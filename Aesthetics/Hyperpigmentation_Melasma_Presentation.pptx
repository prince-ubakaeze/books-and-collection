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Hyperpigmentation and Melasma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Causes, Clinical Features, Diagnosis, and Treatment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Hyperpigmentation is a common skin condition caused by excess melanin production.</a:t>
            </a:r>
          </a:p>
          <a:p>
            <a:r>
              <a:t>More common in darker skin types and sun-exposed areas.</a:t>
            </a:r>
          </a:p>
          <a:p>
            <a:r>
              <a:t>Can affect quality of life and self-esteem.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Hyperpigmentation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Darkening of areas of the skin due to increased melanin.</a:t>
            </a:r>
          </a:p>
          <a:p>
            <a:r>
              <a:t>Results from melanocyte overstimulation or skin inflammation.</a:t>
            </a:r>
          </a:p>
          <a:p>
            <a:r>
              <a:t>Can occur in epidermis or dermis.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Hyperpigmentation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Melasma</a:t>
            </a:r>
          </a:p>
          <a:p>
            <a:r>
              <a:t>Post-inflammatory hyperpigmentation (PIH)</a:t>
            </a:r>
          </a:p>
          <a:p>
            <a:r>
              <a:t>Sun-induced hyperpigmentation</a:t>
            </a:r>
          </a:p>
          <a:p>
            <a:r>
              <a:t>Drug-induced pigmentation</a:t>
            </a:r>
          </a:p>
          <a:p>
            <a:r>
              <a:t>Endocrine/systemic pigmentation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Melasma?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Chronic acquired pigmentation disorder.</a:t>
            </a:r>
          </a:p>
          <a:p>
            <a:r>
              <a:t>Characterized by symmetrical brown or gray-brown facial patches.</a:t>
            </a:r>
          </a:p>
          <a:p>
            <a:r>
              <a:t>Commonly called the ‘mask of pregnancy’.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of Melasma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Female gender</a:t>
            </a:r>
          </a:p>
          <a:p>
            <a:r>
              <a:t>Pregnancy</a:t>
            </a:r>
          </a:p>
          <a:p>
            <a:r>
              <a:t>Hormonal therapy/oral contraceptives</a:t>
            </a:r>
          </a:p>
          <a:p>
            <a:r>
              <a:t>UV exposure</a:t>
            </a:r>
          </a:p>
          <a:p>
            <a:r>
              <a:t>Genetic predisposition</a:t>
            </a:r>
          </a:p>
          <a:p>
            <a:r>
              <a:t>Darker skin phototypes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Triggers stimulate melanocytes.</a:t>
            </a:r>
          </a:p>
          <a:p>
            <a:r>
              <a:t>Increased melanin synthesis occurs.</a:t>
            </a:r>
          </a:p>
          <a:p>
            <a:r>
              <a:t>Melanin accumulates in skin layers.</a:t>
            </a:r>
          </a:p>
          <a:p>
            <a:r>
              <a:t>Results in visible dark patches.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 exposure</a:t>
            </a:r>
          </a:p>
          <a:p>
            <a:r>
              <a:t>Hormonal changes</a:t>
            </a:r>
          </a:p>
          <a:p>
            <a:r>
              <a:t>Heat and visible light</a:t>
            </a:r>
          </a:p>
          <a:p>
            <a:r>
              <a:t>Inflammation</a:t>
            </a:r>
          </a:p>
          <a:p>
            <a:r>
              <a:t>Harsh cosmetic products</a:t>
            </a:r>
          </a:p>
          <a:p>
            <a:r>
              <a:t>Certain medications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Brown to gray-brown patches</a:t>
            </a:r>
          </a:p>
          <a:p>
            <a:r>
              <a:t>Symmetrical facial distribution</a:t>
            </a:r>
          </a:p>
          <a:p>
            <a:r>
              <a:t>Common on cheeks, forehead, upper lip, and chin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of Melasma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Centrofacial pattern</a:t>
            </a:r>
          </a:p>
          <a:p>
            <a:r>
              <a:t>Malar pattern</a:t>
            </a:r>
          </a:p>
          <a:p>
            <a:r>
              <a:t>Mandibular pattern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Based on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Epidermal melasma – superficial brown pigment</a:t>
            </a:r>
          </a:p>
          <a:p>
            <a:r>
              <a:t>Dermal melasma – deeper gray-blue pigment</a:t>
            </a:r>
          </a:p>
          <a:p>
            <a:r>
              <a:t>Mixed melasma – combination of both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examination</a:t>
            </a:r>
          </a:p>
          <a:p>
            <a:r>
              <a:t>Wood’s lamp examination</a:t>
            </a:r>
          </a:p>
          <a:p>
            <a:r>
              <a:t>Dermoscopy</a:t>
            </a:r>
          </a:p>
          <a:p>
            <a:r>
              <a:t>Assessment of triggers and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melanin production</a:t>
            </a:r>
          </a:p>
          <a:p>
            <a:r>
              <a:t>Improve skin tone</a:t>
            </a:r>
          </a:p>
          <a:p>
            <a:r>
              <a:t>Prevent recurrence</a:t>
            </a:r>
          </a:p>
          <a:p>
            <a:r>
              <a:t>Maintain skin barrier integrity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important part of treatment</a:t>
            </a:r>
          </a:p>
          <a:p>
            <a:r>
              <a:t>Broad-spectrum SPF 50+</a:t>
            </a:r>
          </a:p>
          <a:p>
            <a:r>
              <a:t>Tinted sunscreen with iron oxide</a:t>
            </a:r>
          </a:p>
          <a:p>
            <a:r>
              <a:t>Reapply every 2–3 hours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Topical Treatments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Hydroquinone</a:t>
            </a:r>
          </a:p>
          <a:p>
            <a:r>
              <a:t>Triple combination cream</a:t>
            </a:r>
          </a:p>
          <a:p>
            <a:r>
              <a:t>Azelaic acid</a:t>
            </a:r>
          </a:p>
          <a:p>
            <a:r>
              <a:t>Retinoids</a:t>
            </a:r>
          </a:p>
          <a:p>
            <a:r>
              <a:t>Kojic acid</a:t>
            </a:r>
          </a:p>
          <a:p>
            <a:r>
              <a:t>Niacinamide</a:t>
            </a:r>
          </a:p>
          <a:p>
            <a:r>
              <a:t>Vitamin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Oral Treatments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Oral tranexamic acid for resistant melasma</a:t>
            </a:r>
          </a:p>
          <a:p>
            <a:r>
              <a:t>Requires proper medical supervision</a:t>
            </a:r>
          </a:p>
          <a:p>
            <a:r>
              <a:t>Contraindicated in clotting disorders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Chemical Peels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Glycolic acid</a:t>
            </a:r>
          </a:p>
          <a:p>
            <a:r>
              <a:t>Mandelic acid</a:t>
            </a:r>
          </a:p>
          <a:p>
            <a:r>
              <a:t>Lactic acid</a:t>
            </a:r>
          </a:p>
          <a:p>
            <a:r>
              <a:t>Salicylic acid</a:t>
            </a:r>
          </a:p>
          <a:p>
            <a:r>
              <a:t>Improves exfoliation and pigment reduction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Microneedling and Advanced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product penetration</a:t>
            </a:r>
          </a:p>
          <a:p>
            <a:r>
              <a:t>Can combine with PRP or tranexamic acid</a:t>
            </a:r>
          </a:p>
          <a:p>
            <a:r>
              <a:t>Useful for resistant pigmentation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Laser and Light Therapies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Q-switch Nd:YAG laser</a:t>
            </a:r>
          </a:p>
          <a:p>
            <a:r>
              <a:t>Pico laser</a:t>
            </a:r>
          </a:p>
          <a:p>
            <a:r>
              <a:t>Fractional laser</a:t>
            </a:r>
          </a:p>
          <a:p>
            <a:r>
              <a:t>Use cautiously in darker skin tones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Cosmelan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depigmentation treatment</a:t>
            </a:r>
          </a:p>
          <a:p>
            <a:r>
              <a:t>Reduces melanin production</a:t>
            </a:r>
          </a:p>
          <a:p>
            <a:r>
              <a:t>Requires strict aftercare and maintenance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sunscreen</a:t>
            </a:r>
          </a:p>
          <a:p>
            <a:r>
              <a:t>Gentle skincare</a:t>
            </a:r>
          </a:p>
          <a:p>
            <a:r>
              <a:t>Avoid over-exfoliation</a:t>
            </a:r>
          </a:p>
          <a:p>
            <a:r>
              <a:t>Long-term maintenance products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of Improper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Exogenous ochronosis</a:t>
            </a:r>
          </a:p>
          <a:p>
            <a:r>
              <a:t>Rebound hyperpigmentation</a:t>
            </a:r>
          </a:p>
          <a:p>
            <a:r>
              <a:t>Skin irritation</a:t>
            </a:r>
          </a:p>
          <a:p>
            <a:r>
              <a:t>Barrier damage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Melasma is chronic and recurrent</a:t>
            </a:r>
          </a:p>
          <a:p>
            <a:r>
              <a:t>Consistency is important</a:t>
            </a:r>
          </a:p>
          <a:p>
            <a:r>
              <a:t>Sun protection is non-negotiable</a:t>
            </a:r>
          </a:p>
          <a:p>
            <a:r>
              <a:t>Results take time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Hyperpigmentation and melasma require a multimodal approach.</a:t>
            </a:r>
          </a:p>
          <a:p>
            <a:r>
              <a:t>Early diagnosis and proper management improve outcomes.</a:t>
            </a:r>
          </a:p>
          <a:p>
            <a:r>
              <a:t>Long-term maintenance prevents recurrence.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