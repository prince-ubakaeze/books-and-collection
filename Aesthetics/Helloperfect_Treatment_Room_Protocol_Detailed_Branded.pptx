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1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321040" y="-731520"/>
            <a:ext cx="4754880" cy="4754880"/>
          </a:xfrm>
          <a:prstGeom prst="ellipse">
            <a:avLst/>
          </a:prstGeom>
          <a:solidFill>
            <a:srgbClr val="F7D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280160" y="4572000"/>
            <a:ext cx="2926080" cy="2926080"/>
          </a:xfrm>
          <a:prstGeom prst="ellipse">
            <a:avLst/>
          </a:prstGeom>
          <a:solidFill>
            <a:srgbClr val="F6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621792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BE5376"/>
                </a:solidFill>
                <a:latin typeface="Aptos"/>
              </a:defRPr>
            </a:pPr>
            <a:r>
              <a:t>HELLOPERFECT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758952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5C2237"/>
                </a:solidFill>
                <a:latin typeface="Aptos Display"/>
              </a:defRPr>
            </a:pPr>
            <a:r>
              <a:t>Treatment Room</a:t>
            </a:r>
            <a:br/>
            <a:r>
              <a:t>Protocol &amp; Clinical</a:t>
            </a:r>
            <a:br/>
            <a:r>
              <a:t>Best Practice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3657600"/>
            <a:ext cx="69494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D2D2D"/>
                </a:solidFill>
                <a:latin typeface="Aptos"/>
              </a:defRPr>
            </a:pPr>
            <a:r>
              <a:t>Short class for new intake staff in an aesthetic clinic setting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" y="4343400"/>
            <a:ext cx="56692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ED1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4535424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BE5376"/>
                </a:solidFill>
                <a:latin typeface="Aptos"/>
              </a:defRPr>
            </a:pPr>
            <a:r>
              <a:t>Facilitator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75488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5C2237"/>
                </a:solidFill>
                <a:latin typeface="Aptos"/>
              </a:defRPr>
            </a:pPr>
            <a:r>
              <a:t>Chidindu Solace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39" y="4535424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BE5376"/>
                </a:solidFill>
                <a:latin typeface="Aptos"/>
              </a:defRPr>
            </a:pPr>
            <a:r>
              <a:t>Clinic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39" y="47548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5C2237"/>
                </a:solidFill>
                <a:latin typeface="Aptos"/>
              </a:defRPr>
            </a:pPr>
            <a:r>
              <a:t>Helloperfect Aesthetic Clinic</a:t>
            </a:r>
          </a:p>
        </p:txBody>
      </p:sp>
      <p:sp>
        <p:nvSpPr>
          <p:cNvPr id="12" name="Oval 11"/>
          <p:cNvSpPr/>
          <p:nvPr/>
        </p:nvSpPr>
        <p:spPr>
          <a:xfrm>
            <a:off x="9555480" y="2148840"/>
            <a:ext cx="1600200" cy="1600200"/>
          </a:xfrm>
          <a:prstGeom prst="ellipse">
            <a:avLst/>
          </a:prstGeom>
          <a:solidFill>
            <a:srgbClr val="5C2237"/>
          </a:solidFill>
          <a:ln w="25400">
            <a:solidFill>
              <a:srgbClr val="D6AB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55480" y="2670048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Aptos"/>
              </a:defRPr>
            </a:pPr>
            <a:r>
              <a:t>HP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19672"/>
            <a:ext cx="12191695" cy="45720"/>
          </a:xfrm>
          <a:prstGeom prst="rect">
            <a:avLst/>
          </a:prstGeom>
          <a:solidFill>
            <a:srgbClr val="BE53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6574536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Aptos"/>
              </a:defRPr>
            </a:pPr>
            <a:r>
              <a:t>Helloperfect Aesthetic Clinic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23360" y="6574536"/>
            <a:ext cx="4206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6E6E6E"/>
                </a:solidFill>
                <a:latin typeface="Aptos"/>
              </a:defRPr>
            </a:pPr>
            <a:r>
              <a:t>Treatment Room Protocol &amp; Clinical Best Practice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657453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6E6E6E"/>
                </a:solidFill>
                <a:latin typeface="Aptos"/>
              </a:defRPr>
            </a:pPr>
            <a:r>
              <a:t>Facilitator: Chidindu Solace</a:t>
            </a:r>
          </a:p>
        </p:txBody>
      </p:sp>
      <p:sp>
        <p:nvSpPr>
          <p:cNvPr id="18" name="Oval 17"/>
          <p:cNvSpPr/>
          <p:nvPr/>
        </p:nvSpPr>
        <p:spPr>
          <a:xfrm>
            <a:off x="11658600" y="6483096"/>
            <a:ext cx="301752" cy="301752"/>
          </a:xfrm>
          <a:prstGeom prst="ellipse">
            <a:avLst/>
          </a:prstGeom>
          <a:solidFill>
            <a:srgbClr val="5C2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658600" y="6528816"/>
            <a:ext cx="301752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C2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8229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BE5376"/>
                </a:solidFill>
                <a:latin typeface="Aptos"/>
              </a:defRPr>
            </a:pPr>
            <a:r>
              <a:t>TRAINING FOUNDATION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5C2237"/>
                </a:solidFill>
                <a:latin typeface="Aptos Display"/>
              </a:defRPr>
            </a:pPr>
            <a:r>
              <a:t>Understanding Protocols &amp; Best Practices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064240" y="411480"/>
            <a:ext cx="658368" cy="411480"/>
          </a:xfrm>
          <a:prstGeom prst="roundRect">
            <a:avLst/>
          </a:prstGeom>
          <a:solidFill>
            <a:srgbClr val="FCF1F5"/>
          </a:solidFill>
          <a:ln>
            <a:solidFill>
              <a:srgbClr val="BE53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64240" y="512064"/>
            <a:ext cx="65836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5C2237"/>
                </a:solidFill>
                <a:latin typeface="Aptos"/>
              </a:defRPr>
            </a:pPr>
            <a:r>
              <a:t>HP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9672"/>
            <a:ext cx="12191695" cy="45720"/>
          </a:xfrm>
          <a:prstGeom prst="rect">
            <a:avLst/>
          </a:prstGeom>
          <a:solidFill>
            <a:srgbClr val="BE53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574536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Aptos"/>
              </a:defRPr>
            </a:pPr>
            <a:r>
              <a:t>Helloperfect Aesthetic Clinic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3360" y="6574536"/>
            <a:ext cx="4206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6E6E6E"/>
                </a:solidFill>
                <a:latin typeface="Aptos"/>
              </a:defRPr>
            </a:pPr>
            <a:r>
              <a:t>Treatment Room Protocol &amp; Clinical Best Practice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657453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6E6E6E"/>
                </a:solidFill>
                <a:latin typeface="Aptos"/>
              </a:defRPr>
            </a:pPr>
            <a:r>
              <a:t>Facilitator: Chidindu Solace</a:t>
            </a:r>
          </a:p>
        </p:txBody>
      </p:sp>
      <p:sp>
        <p:nvSpPr>
          <p:cNvPr id="11" name="Oval 10"/>
          <p:cNvSpPr/>
          <p:nvPr/>
        </p:nvSpPr>
        <p:spPr>
          <a:xfrm>
            <a:off x="11658600" y="6483096"/>
            <a:ext cx="301752" cy="301752"/>
          </a:xfrm>
          <a:prstGeom prst="ellipse">
            <a:avLst/>
          </a:prstGeom>
          <a:solidFill>
            <a:srgbClr val="5C2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658600" y="6528816"/>
            <a:ext cx="301752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1417320"/>
            <a:ext cx="5303520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EB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1417320"/>
            <a:ext cx="82296" cy="3840480"/>
          </a:xfrm>
          <a:prstGeom prst="rect">
            <a:avLst/>
          </a:prstGeom>
          <a:solidFill>
            <a:srgbClr val="BE53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1581912"/>
            <a:ext cx="4983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1">
                <a:solidFill>
                  <a:srgbClr val="5C2237"/>
                </a:solidFill>
                <a:latin typeface="Aptos"/>
              </a:defRPr>
            </a:pPr>
            <a:r>
              <a:t>What “Protocol” Means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1947672"/>
            <a:ext cx="4892040" cy="315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2D2D2D"/>
                </a:solidFill>
                <a:latin typeface="Aptos"/>
              </a:defRPr>
            </a:pPr>
            <a:r>
              <a:t>A protocol is a fixed set of steps staff must follow before, during, and after treatment.</a:t>
            </a:r>
          </a:p>
          <a:p>
            <a:pPr>
              <a:spcAft>
                <a:spcPts val="400"/>
              </a:spcAft>
              <a:defRPr sz="1250">
                <a:solidFill>
                  <a:srgbClr val="2D2D2D"/>
                </a:solidFill>
                <a:latin typeface="Aptos"/>
              </a:defRPr>
            </a:pPr>
            <a:r>
              <a:t>It creates consistency so every client receives the same safe standard of care.</a:t>
            </a:r>
          </a:p>
          <a:p>
            <a:pPr>
              <a:spcAft>
                <a:spcPts val="400"/>
              </a:spcAft>
              <a:defRPr sz="1250">
                <a:solidFill>
                  <a:srgbClr val="2D2D2D"/>
                </a:solidFill>
                <a:latin typeface="Aptos"/>
              </a:defRPr>
            </a:pPr>
            <a:r>
              <a:t>It reduces confusion because staff know exactly what must happen at each stage.</a:t>
            </a:r>
          </a:p>
          <a:p>
            <a:pPr>
              <a:spcAft>
                <a:spcPts val="400"/>
              </a:spcAft>
              <a:defRPr sz="1250">
                <a:solidFill>
                  <a:srgbClr val="2D2D2D"/>
                </a:solidFill>
                <a:latin typeface="Aptos"/>
              </a:defRPr>
            </a:pPr>
            <a:r>
              <a:t>It supports accountability because actions can be checked, recorded, and improved.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1417320"/>
            <a:ext cx="5303520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EB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1417320"/>
            <a:ext cx="82296" cy="3840480"/>
          </a:xfrm>
          <a:prstGeom prst="rect">
            <a:avLst/>
          </a:prstGeom>
          <a:solidFill>
            <a:srgbClr val="D6AB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1581912"/>
            <a:ext cx="4983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1">
                <a:solidFill>
                  <a:srgbClr val="5C2237"/>
                </a:solidFill>
                <a:latin typeface="Aptos"/>
              </a:defRPr>
            </a:pPr>
            <a:r>
              <a:t>What “Best Practice” Means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1947672"/>
            <a:ext cx="4892040" cy="315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2D2D2D"/>
                </a:solidFill>
                <a:latin typeface="Aptos"/>
              </a:defRPr>
            </a:pPr>
            <a:r>
              <a:t>A best practice is the most accepted and effective way to perform a task safely and professionally.</a:t>
            </a:r>
          </a:p>
          <a:p>
            <a:pPr>
              <a:spcAft>
                <a:spcPts val="400"/>
              </a:spcAft>
              <a:defRPr sz="1250">
                <a:solidFill>
                  <a:srgbClr val="2D2D2D"/>
                </a:solidFill>
                <a:latin typeface="Aptos"/>
              </a:defRPr>
            </a:pPr>
            <a:r>
              <a:t>It is based on clinical standards, infection control principles, experience, and quality improvement.</a:t>
            </a:r>
          </a:p>
          <a:p>
            <a:pPr>
              <a:spcAft>
                <a:spcPts val="400"/>
              </a:spcAft>
              <a:defRPr sz="1250">
                <a:solidFill>
                  <a:srgbClr val="2D2D2D"/>
                </a:solidFill>
                <a:latin typeface="Aptos"/>
              </a:defRPr>
            </a:pPr>
            <a:r>
              <a:t>It helps staff avoid shortcuts that may put clients, colleagues, or the clinic at risk.</a:t>
            </a:r>
          </a:p>
          <a:p>
            <a:pPr>
              <a:spcAft>
                <a:spcPts val="400"/>
              </a:spcAft>
              <a:defRPr sz="1250">
                <a:solidFill>
                  <a:srgbClr val="2D2D2D"/>
                </a:solidFill>
                <a:latin typeface="Aptos"/>
              </a:defRPr>
            </a:pPr>
            <a:r>
              <a:t>It should be repeated until it becomes the normal culture of the treatment room.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4864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5C2237"/>
                </a:solidFill>
                <a:latin typeface="Aptos"/>
              </a:defRPr>
            </a:pPr>
            <a:r>
              <a:t>Simple way to remember it: Protocol tells us the required steps. Best practice tells us the safest and most professional way to carry them out.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C2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8229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BE5376"/>
                </a:solidFill>
                <a:latin typeface="Aptos"/>
              </a:defRPr>
            </a:pPr>
            <a:r>
              <a:t>CLINIC STANDARD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5C2237"/>
                </a:solidFill>
                <a:latin typeface="Aptos Display"/>
              </a:defRPr>
            </a:pPr>
            <a:r>
              <a:t>Why Treatment Room Protocol Matters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064240" y="411480"/>
            <a:ext cx="658368" cy="411480"/>
          </a:xfrm>
          <a:prstGeom prst="roundRect">
            <a:avLst/>
          </a:prstGeom>
          <a:solidFill>
            <a:srgbClr val="FCF1F5"/>
          </a:solidFill>
          <a:ln>
            <a:solidFill>
              <a:srgbClr val="BE53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64240" y="512064"/>
            <a:ext cx="65836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5C2237"/>
                </a:solidFill>
                <a:latin typeface="Aptos"/>
              </a:defRPr>
            </a:pPr>
            <a:r>
              <a:t>HP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9672"/>
            <a:ext cx="12191695" cy="45720"/>
          </a:xfrm>
          <a:prstGeom prst="rect">
            <a:avLst/>
          </a:prstGeom>
          <a:solidFill>
            <a:srgbClr val="BE53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574536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Aptos"/>
              </a:defRPr>
            </a:pPr>
            <a:r>
              <a:t>Helloperfect Aesthetic Clinic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3360" y="6574536"/>
            <a:ext cx="4206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6E6E6E"/>
                </a:solidFill>
                <a:latin typeface="Aptos"/>
              </a:defRPr>
            </a:pPr>
            <a:r>
              <a:t>Treatment Room Protocol &amp; Clinical Best Practice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657453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6E6E6E"/>
                </a:solidFill>
                <a:latin typeface="Aptos"/>
              </a:defRPr>
            </a:pPr>
            <a:r>
              <a:t>Facilitator: Chidindu Solace</a:t>
            </a:r>
          </a:p>
        </p:txBody>
      </p:sp>
      <p:sp>
        <p:nvSpPr>
          <p:cNvPr id="11" name="Oval 10"/>
          <p:cNvSpPr/>
          <p:nvPr/>
        </p:nvSpPr>
        <p:spPr>
          <a:xfrm>
            <a:off x="11658600" y="6483096"/>
            <a:ext cx="301752" cy="301752"/>
          </a:xfrm>
          <a:prstGeom prst="ellipse">
            <a:avLst/>
          </a:prstGeom>
          <a:solidFill>
            <a:srgbClr val="5C2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658600" y="6528816"/>
            <a:ext cx="301752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" y="1508760"/>
            <a:ext cx="34290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B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13232" y="1508760"/>
            <a:ext cx="82296" cy="1325880"/>
          </a:xfrm>
          <a:prstGeom prst="rect">
            <a:avLst/>
          </a:prstGeom>
          <a:solidFill>
            <a:srgbClr val="BE53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1673351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1">
                <a:solidFill>
                  <a:srgbClr val="5C2237"/>
                </a:solidFill>
                <a:latin typeface="Aptos"/>
              </a:defRPr>
            </a:pPr>
            <a:r>
              <a:t>Client safety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832" y="2039112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2D2D2D"/>
                </a:solidFill>
                <a:latin typeface="Aptos"/>
              </a:defRPr>
            </a:pPr>
            <a:r>
              <a:t>Reduces avoidable risk before, during, and after procedures.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80560" y="1508760"/>
            <a:ext cx="34290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B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480560" y="1508760"/>
            <a:ext cx="82296" cy="1325880"/>
          </a:xfrm>
          <a:prstGeom prst="rect">
            <a:avLst/>
          </a:prstGeom>
          <a:solidFill>
            <a:srgbClr val="D6AB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63440" y="1673351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1">
                <a:solidFill>
                  <a:srgbClr val="5C2237"/>
                </a:solidFill>
                <a:latin typeface="Aptos"/>
              </a:defRPr>
            </a:pPr>
            <a:r>
              <a:t>Infection prevention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09160" y="2039112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2D2D2D"/>
                </a:solidFill>
                <a:latin typeface="Aptos"/>
              </a:defRPr>
            </a:pPr>
            <a:r>
              <a:t>Controls contamination from hands, surfaces, products, tools, and waste.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47888" y="1508760"/>
            <a:ext cx="34290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B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47888" y="1508760"/>
            <a:ext cx="82296" cy="1325880"/>
          </a:xfrm>
          <a:prstGeom prst="rect">
            <a:avLst/>
          </a:prstGeom>
          <a:solidFill>
            <a:srgbClr val="BE53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30767" y="1673351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1">
                <a:solidFill>
                  <a:srgbClr val="5C2237"/>
                </a:solidFill>
                <a:latin typeface="Aptos"/>
              </a:defRPr>
            </a:pPr>
            <a:r>
              <a:t>Consistent outcomes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76488" y="2039112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2D2D2D"/>
                </a:solidFill>
                <a:latin typeface="Aptos"/>
              </a:defRPr>
            </a:pPr>
            <a:r>
              <a:t>Helps every staff member follow the same quality standard.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3232" y="3337560"/>
            <a:ext cx="34290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B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13232" y="3337560"/>
            <a:ext cx="82296" cy="1325880"/>
          </a:xfrm>
          <a:prstGeom prst="rect">
            <a:avLst/>
          </a:prstGeom>
          <a:solidFill>
            <a:srgbClr val="D6AB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6112" y="350215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1">
                <a:solidFill>
                  <a:srgbClr val="5C2237"/>
                </a:solidFill>
                <a:latin typeface="Aptos"/>
              </a:defRPr>
            </a:pPr>
            <a:r>
              <a:t>Professional confidence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1832" y="3867911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2D2D2D"/>
                </a:solidFill>
                <a:latin typeface="Aptos"/>
              </a:defRPr>
            </a:pPr>
            <a:r>
              <a:t>Clients feel safer when the room, staff, and process look organized.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480560" y="3337560"/>
            <a:ext cx="34290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B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480560" y="3337560"/>
            <a:ext cx="82296" cy="1325880"/>
          </a:xfrm>
          <a:prstGeom prst="rect">
            <a:avLst/>
          </a:prstGeom>
          <a:solidFill>
            <a:srgbClr val="BE53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63440" y="350215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1">
                <a:solidFill>
                  <a:srgbClr val="5C2237"/>
                </a:solidFill>
                <a:latin typeface="Aptos"/>
              </a:defRPr>
            </a:pPr>
            <a:r>
              <a:t>Legal and ethical protection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09160" y="3867911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2D2D2D"/>
                </a:solidFill>
                <a:latin typeface="Aptos"/>
              </a:defRPr>
            </a:pPr>
            <a:r>
              <a:t>Supports consent, accurate records, privacy, and responsible practice.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247888" y="3337560"/>
            <a:ext cx="34290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B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247888" y="3337560"/>
            <a:ext cx="82296" cy="1325880"/>
          </a:xfrm>
          <a:prstGeom prst="rect">
            <a:avLst/>
          </a:prstGeom>
          <a:solidFill>
            <a:srgbClr val="D6AB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30767" y="350215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1">
                <a:solidFill>
                  <a:srgbClr val="5C2237"/>
                </a:solidFill>
                <a:latin typeface="Aptos"/>
              </a:defRPr>
            </a:pPr>
            <a:r>
              <a:t>Brand reputation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76488" y="3867911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2D2D2D"/>
                </a:solidFill>
                <a:latin typeface="Aptos"/>
              </a:defRPr>
            </a:pPr>
            <a:r>
              <a:t>Every treatment room experience reflects Helloperfect’s standard of care.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C2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8229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BE5376"/>
                </a:solidFill>
                <a:latin typeface="Aptos"/>
              </a:defRPr>
            </a:pPr>
            <a:r>
              <a:t>LEARNING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5C2237"/>
                </a:solidFill>
                <a:latin typeface="Aptos Display"/>
              </a:defRPr>
            </a:pPr>
            <a:r>
              <a:t>By the End of This Class, Staff Should Be Able To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064240" y="411480"/>
            <a:ext cx="658368" cy="411480"/>
          </a:xfrm>
          <a:prstGeom prst="roundRect">
            <a:avLst/>
          </a:prstGeom>
          <a:solidFill>
            <a:srgbClr val="FCF1F5"/>
          </a:solidFill>
          <a:ln>
            <a:solidFill>
              <a:srgbClr val="BE53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64240" y="512064"/>
            <a:ext cx="65836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5C2237"/>
                </a:solidFill>
                <a:latin typeface="Aptos"/>
              </a:defRPr>
            </a:pPr>
            <a:r>
              <a:t>HP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9672"/>
            <a:ext cx="12191695" cy="45720"/>
          </a:xfrm>
          <a:prstGeom prst="rect">
            <a:avLst/>
          </a:prstGeom>
          <a:solidFill>
            <a:srgbClr val="BE53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574536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Aptos"/>
              </a:defRPr>
            </a:pPr>
            <a:r>
              <a:t>Helloperfect Aesthetic Clinic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3360" y="6574536"/>
            <a:ext cx="4206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6E6E6E"/>
                </a:solidFill>
                <a:latin typeface="Aptos"/>
              </a:defRPr>
            </a:pPr>
            <a:r>
              <a:t>Treatment Room Protocol &amp; Clinical Best Practice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657453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6E6E6E"/>
                </a:solidFill>
                <a:latin typeface="Aptos"/>
              </a:defRPr>
            </a:pPr>
            <a:r>
              <a:t>Facilitator: Chidindu Solace</a:t>
            </a:r>
          </a:p>
        </p:txBody>
      </p:sp>
      <p:sp>
        <p:nvSpPr>
          <p:cNvPr id="11" name="Oval 10"/>
          <p:cNvSpPr/>
          <p:nvPr/>
        </p:nvSpPr>
        <p:spPr>
          <a:xfrm>
            <a:off x="11658600" y="6483096"/>
            <a:ext cx="301752" cy="301752"/>
          </a:xfrm>
          <a:prstGeom prst="ellipse">
            <a:avLst/>
          </a:prstGeom>
          <a:solidFill>
            <a:srgbClr val="5C2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658600" y="6528816"/>
            <a:ext cx="301752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5840" y="1417320"/>
            <a:ext cx="1014984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B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05840" y="1417320"/>
            <a:ext cx="82296" cy="4297680"/>
          </a:xfrm>
          <a:prstGeom prst="rect">
            <a:avLst/>
          </a:prstGeom>
          <a:solidFill>
            <a:srgbClr val="BE53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1581912"/>
            <a:ext cx="9829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1">
                <a:solidFill>
                  <a:srgbClr val="5C2237"/>
                </a:solidFill>
                <a:latin typeface="Aptos"/>
              </a:defRPr>
            </a:pPr>
            <a:r>
              <a:t>Training outcomes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1947672"/>
            <a:ext cx="973836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2D2D2D"/>
                </a:solidFill>
                <a:latin typeface="Aptos"/>
              </a:defRPr>
            </a:pPr>
            <a:r>
              <a:t>Prepare and reset a treatment room using a consistent checklist.</a:t>
            </a:r>
          </a:p>
          <a:p>
            <a:pPr>
              <a:spcAft>
                <a:spcPts val="400"/>
              </a:spcAft>
              <a:defRPr sz="1250">
                <a:solidFill>
                  <a:srgbClr val="2D2D2D"/>
                </a:solidFill>
                <a:latin typeface="Aptos"/>
              </a:defRPr>
            </a:pPr>
            <a:r>
              <a:t>Apply basic infection prevention and hand hygiene standards correctly.</a:t>
            </a:r>
          </a:p>
          <a:p>
            <a:pPr>
              <a:spcAft>
                <a:spcPts val="400"/>
              </a:spcAft>
              <a:defRPr sz="1250">
                <a:solidFill>
                  <a:srgbClr val="2D2D2D"/>
                </a:solidFill>
                <a:latin typeface="Aptos"/>
              </a:defRPr>
            </a:pPr>
            <a:r>
              <a:t>Organize equipment and products before the client enters the room.</a:t>
            </a:r>
          </a:p>
          <a:p>
            <a:pPr>
              <a:spcAft>
                <a:spcPts val="400"/>
              </a:spcAft>
              <a:defRPr sz="1250">
                <a:solidFill>
                  <a:srgbClr val="2D2D2D"/>
                </a:solidFill>
                <a:latin typeface="Aptos"/>
              </a:defRPr>
            </a:pPr>
            <a:r>
              <a:t>Communicate clearly with clients while protecting their comfort and privacy.</a:t>
            </a:r>
          </a:p>
          <a:p>
            <a:pPr>
              <a:spcAft>
                <a:spcPts val="400"/>
              </a:spcAft>
              <a:defRPr sz="1250">
                <a:solidFill>
                  <a:srgbClr val="2D2D2D"/>
                </a:solidFill>
                <a:latin typeface="Aptos"/>
              </a:defRPr>
            </a:pPr>
            <a:r>
              <a:t>Follow safe, professional treatment-room behaviour from start to finish.</a:t>
            </a:r>
          </a:p>
          <a:p>
            <a:pPr>
              <a:spcAft>
                <a:spcPts val="400"/>
              </a:spcAft>
              <a:defRPr sz="1250">
                <a:solidFill>
                  <a:srgbClr val="2D2D2D"/>
                </a:solidFill>
                <a:latin typeface="Aptos"/>
              </a:defRPr>
            </a:pPr>
            <a:r>
              <a:t>Complete accurate treatment notes immediately after each procedure.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C2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8229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BE5376"/>
                </a:solidFill>
                <a:latin typeface="Aptos"/>
              </a:defRPr>
            </a:pPr>
            <a:r>
              <a:t>TRAINING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5C2237"/>
                </a:solidFill>
                <a:latin typeface="Aptos Display"/>
              </a:defRPr>
            </a:pPr>
            <a:r>
              <a:t>The 16 Core Areas Covered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064240" y="411480"/>
            <a:ext cx="658368" cy="411480"/>
          </a:xfrm>
          <a:prstGeom prst="roundRect">
            <a:avLst/>
          </a:prstGeom>
          <a:solidFill>
            <a:srgbClr val="FCF1F5"/>
          </a:solidFill>
          <a:ln>
            <a:solidFill>
              <a:srgbClr val="BE53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64240" y="512064"/>
            <a:ext cx="65836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5C2237"/>
                </a:solidFill>
                <a:latin typeface="Aptos"/>
              </a:defRPr>
            </a:pPr>
            <a:r>
              <a:t>HP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9672"/>
            <a:ext cx="12191695" cy="45720"/>
          </a:xfrm>
          <a:prstGeom prst="rect">
            <a:avLst/>
          </a:prstGeom>
          <a:solidFill>
            <a:srgbClr val="BE53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574536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Aptos"/>
              </a:defRPr>
            </a:pPr>
            <a:r>
              <a:t>Helloperfect Aesthetic Clinic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3360" y="6574536"/>
            <a:ext cx="4206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6E6E6E"/>
                </a:solidFill>
                <a:latin typeface="Aptos"/>
              </a:defRPr>
            </a:pPr>
            <a:r>
              <a:t>Treatment Room Protocol &amp; Clinical Best Practice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657453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6E6E6E"/>
                </a:solidFill>
                <a:latin typeface="Aptos"/>
              </a:defRPr>
            </a:pPr>
            <a:r>
              <a:t>Facilitator: Chidindu Solace</a:t>
            </a:r>
          </a:p>
        </p:txBody>
      </p:sp>
      <p:sp>
        <p:nvSpPr>
          <p:cNvPr id="11" name="Oval 10"/>
          <p:cNvSpPr/>
          <p:nvPr/>
        </p:nvSpPr>
        <p:spPr>
          <a:xfrm>
            <a:off x="11658600" y="6483096"/>
            <a:ext cx="301752" cy="301752"/>
          </a:xfrm>
          <a:prstGeom prst="ellipse">
            <a:avLst/>
          </a:prstGeom>
          <a:solidFill>
            <a:srgbClr val="5C2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658600" y="6528816"/>
            <a:ext cx="301752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1371600"/>
            <a:ext cx="260604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EB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1371600"/>
            <a:ext cx="82296" cy="4343400"/>
          </a:xfrm>
          <a:prstGeom prst="rect">
            <a:avLst/>
          </a:prstGeom>
          <a:solidFill>
            <a:srgbClr val="BE53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153619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1">
                <a:solidFill>
                  <a:srgbClr val="5C2237"/>
                </a:solidFill>
                <a:latin typeface="Aptos"/>
              </a:defRPr>
            </a:pPr>
            <a:r>
              <a:t>Section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1901952"/>
            <a:ext cx="21945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2D2D2D"/>
                </a:solidFill>
                <a:latin typeface="Aptos"/>
              </a:defRPr>
            </a:pPr>
            <a:r>
              <a:t>Treatment room preparation and setup</a:t>
            </a:r>
          </a:p>
          <a:p>
            <a:pPr>
              <a:spcAft>
                <a:spcPts val="400"/>
              </a:spcAft>
              <a:defRPr sz="1250">
                <a:solidFill>
                  <a:srgbClr val="2D2D2D"/>
                </a:solidFill>
                <a:latin typeface="Aptos"/>
              </a:defRPr>
            </a:pPr>
            <a:r>
              <a:t>Pretreatment checklist and readiness</a:t>
            </a:r>
          </a:p>
          <a:p>
            <a:pPr>
              <a:spcAft>
                <a:spcPts val="400"/>
              </a:spcAft>
              <a:defRPr sz="1250">
                <a:solidFill>
                  <a:srgbClr val="2D2D2D"/>
                </a:solidFill>
                <a:latin typeface="Aptos"/>
              </a:defRPr>
            </a:pPr>
            <a:r>
              <a:t>Equipment organization before a client enters</a:t>
            </a:r>
          </a:p>
          <a:p>
            <a:pPr>
              <a:spcAft>
                <a:spcPts val="400"/>
              </a:spcAft>
              <a:defRPr sz="1250">
                <a:solidFill>
                  <a:srgbClr val="2D2D2D"/>
                </a:solidFill>
                <a:latin typeface="Aptos"/>
              </a:defRPr>
            </a:pPr>
            <a:r>
              <a:t>Infection prevention and control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10712" y="1371600"/>
            <a:ext cx="260604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EB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10712" y="1371600"/>
            <a:ext cx="82296" cy="4343400"/>
          </a:xfrm>
          <a:prstGeom prst="rect">
            <a:avLst/>
          </a:prstGeom>
          <a:solidFill>
            <a:srgbClr val="D6AB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93592" y="153619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1">
                <a:solidFill>
                  <a:srgbClr val="5C2237"/>
                </a:solidFill>
                <a:latin typeface="Aptos"/>
              </a:defRPr>
            </a:pPr>
            <a:r>
              <a:t>Section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39312" y="1901952"/>
            <a:ext cx="21945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2D2D2D"/>
                </a:solidFill>
                <a:latin typeface="Aptos"/>
              </a:defRPr>
            </a:pPr>
            <a:r>
              <a:t>Hand hygiene protocols</a:t>
            </a:r>
          </a:p>
          <a:p>
            <a:pPr>
              <a:spcAft>
                <a:spcPts val="400"/>
              </a:spcAft>
              <a:defRPr sz="1250">
                <a:solidFill>
                  <a:srgbClr val="2D2D2D"/>
                </a:solidFill>
                <a:latin typeface="Aptos"/>
              </a:defRPr>
            </a:pPr>
            <a:r>
              <a:t>Equipment cleaning, sterilization and storage</a:t>
            </a:r>
          </a:p>
          <a:p>
            <a:pPr>
              <a:spcAft>
                <a:spcPts val="400"/>
              </a:spcAft>
              <a:defRPr sz="1250">
                <a:solidFill>
                  <a:srgbClr val="2D2D2D"/>
                </a:solidFill>
                <a:latin typeface="Aptos"/>
              </a:defRPr>
            </a:pPr>
            <a:r>
              <a:t>Treatment room hygiene standards</a:t>
            </a:r>
          </a:p>
          <a:p>
            <a:pPr>
              <a:spcAft>
                <a:spcPts val="400"/>
              </a:spcAft>
              <a:defRPr sz="1250">
                <a:solidFill>
                  <a:srgbClr val="2D2D2D"/>
                </a:solidFill>
                <a:latin typeface="Aptos"/>
              </a:defRPr>
            </a:pPr>
            <a:r>
              <a:t>Maintaining a clean professional workspace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18504" y="1371600"/>
            <a:ext cx="260604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EB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18504" y="1371600"/>
            <a:ext cx="82296" cy="4343400"/>
          </a:xfrm>
          <a:prstGeom prst="rect">
            <a:avLst/>
          </a:prstGeom>
          <a:solidFill>
            <a:srgbClr val="BE53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01384" y="153619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1">
                <a:solidFill>
                  <a:srgbClr val="5C2237"/>
                </a:solidFill>
                <a:latin typeface="Aptos"/>
              </a:defRPr>
            </a:pPr>
            <a:r>
              <a:t>Section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47104" y="1901952"/>
            <a:ext cx="21945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2D2D2D"/>
                </a:solidFill>
                <a:latin typeface="Aptos"/>
              </a:defRPr>
            </a:pPr>
            <a:r>
              <a:t>Client safety protocols during treatment</a:t>
            </a:r>
          </a:p>
          <a:p>
            <a:pPr>
              <a:spcAft>
                <a:spcPts val="400"/>
              </a:spcAft>
              <a:defRPr sz="1250">
                <a:solidFill>
                  <a:srgbClr val="2D2D2D"/>
                </a:solidFill>
                <a:latin typeface="Aptos"/>
              </a:defRPr>
            </a:pPr>
            <a:r>
              <a:t>Professional conduct during procedures</a:t>
            </a:r>
          </a:p>
          <a:p>
            <a:pPr>
              <a:spcAft>
                <a:spcPts val="400"/>
              </a:spcAft>
              <a:defRPr sz="1250">
                <a:solidFill>
                  <a:srgbClr val="2D2D2D"/>
                </a:solidFill>
                <a:latin typeface="Aptos"/>
              </a:defRPr>
            </a:pPr>
            <a:r>
              <a:t>Communicating with clients through procedures</a:t>
            </a:r>
          </a:p>
          <a:p>
            <a:pPr>
              <a:spcAft>
                <a:spcPts val="400"/>
              </a:spcAft>
              <a:defRPr sz="1250">
                <a:solidFill>
                  <a:srgbClr val="2D2D2D"/>
                </a:solidFill>
                <a:latin typeface="Aptos"/>
              </a:defRPr>
            </a:pPr>
            <a:r>
              <a:t>Explaining each step while performing it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226296" y="1371600"/>
            <a:ext cx="260604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EB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226296" y="1371600"/>
            <a:ext cx="82296" cy="4343400"/>
          </a:xfrm>
          <a:prstGeom prst="rect">
            <a:avLst/>
          </a:prstGeom>
          <a:solidFill>
            <a:srgbClr val="D6AB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09176" y="153619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1">
                <a:solidFill>
                  <a:srgbClr val="5C2237"/>
                </a:solidFill>
                <a:latin typeface="Aptos"/>
              </a:defRPr>
            </a:pPr>
            <a:r>
              <a:t>Section 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54896" y="1901952"/>
            <a:ext cx="21945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2D2D2D"/>
                </a:solidFill>
                <a:latin typeface="Aptos"/>
              </a:defRPr>
            </a:pPr>
            <a:r>
              <a:t>Managing client comfort and anxiety</a:t>
            </a:r>
          </a:p>
          <a:p>
            <a:pPr>
              <a:spcAft>
                <a:spcPts val="400"/>
              </a:spcAft>
              <a:defRPr sz="1250">
                <a:solidFill>
                  <a:srgbClr val="2D2D2D"/>
                </a:solidFill>
                <a:latin typeface="Aptos"/>
              </a:defRPr>
            </a:pPr>
            <a:r>
              <a:t>Treatment flow and efficiency</a:t>
            </a:r>
          </a:p>
          <a:p>
            <a:pPr>
              <a:spcAft>
                <a:spcPts val="400"/>
              </a:spcAft>
              <a:defRPr sz="1250">
                <a:solidFill>
                  <a:srgbClr val="2D2D2D"/>
                </a:solidFill>
                <a:latin typeface="Aptos"/>
              </a:defRPr>
            </a:pPr>
            <a:r>
              <a:t>Closing down and resetting the room</a:t>
            </a:r>
          </a:p>
          <a:p>
            <a:pPr>
              <a:spcAft>
                <a:spcPts val="400"/>
              </a:spcAft>
              <a:defRPr sz="1250">
                <a:solidFill>
                  <a:srgbClr val="2D2D2D"/>
                </a:solidFill>
                <a:latin typeface="Aptos"/>
              </a:defRPr>
            </a:pPr>
            <a:r>
              <a:t>Documentation and treatment notes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C2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8229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BE5376"/>
                </a:solidFill>
                <a:latin typeface="Aptos"/>
              </a:defRPr>
            </a:pPr>
            <a:r>
              <a:t>CORE AREA 1 · ROOM READINESS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5C2237"/>
                </a:solidFill>
                <a:latin typeface="Aptos Display"/>
              </a:defRPr>
            </a:pPr>
            <a:r>
              <a:t>Treatment Room Preparation and Setup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064240" y="411480"/>
            <a:ext cx="658368" cy="411480"/>
          </a:xfrm>
          <a:prstGeom prst="roundRect">
            <a:avLst/>
          </a:prstGeom>
          <a:solidFill>
            <a:srgbClr val="FCF1F5"/>
          </a:solidFill>
          <a:ln>
            <a:solidFill>
              <a:srgbClr val="BE53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64240" y="512064"/>
            <a:ext cx="65836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5C2237"/>
                </a:solidFill>
                <a:latin typeface="Aptos"/>
              </a:defRPr>
            </a:pPr>
            <a:r>
              <a:t>HP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9672"/>
            <a:ext cx="12191695" cy="45720"/>
          </a:xfrm>
          <a:prstGeom prst="rect">
            <a:avLst/>
          </a:prstGeom>
          <a:solidFill>
            <a:srgbClr val="BE53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574536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Aptos"/>
              </a:defRPr>
            </a:pPr>
            <a:r>
              <a:t>Helloperfect Aesthetic Clinic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3360" y="6574536"/>
            <a:ext cx="4206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6E6E6E"/>
                </a:solidFill>
                <a:latin typeface="Aptos"/>
              </a:defRPr>
            </a:pPr>
            <a:r>
              <a:t>Treatment Room Protocol &amp; Clinical Best Practice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657453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6E6E6E"/>
                </a:solidFill>
                <a:latin typeface="Aptos"/>
              </a:defRPr>
            </a:pPr>
            <a:r>
              <a:t>Facilitator: Chidindu Solace</a:t>
            </a:r>
          </a:p>
        </p:txBody>
      </p:sp>
      <p:sp>
        <p:nvSpPr>
          <p:cNvPr id="11" name="Oval 10"/>
          <p:cNvSpPr/>
          <p:nvPr/>
        </p:nvSpPr>
        <p:spPr>
          <a:xfrm>
            <a:off x="11658600" y="6483096"/>
            <a:ext cx="301752" cy="301752"/>
          </a:xfrm>
          <a:prstGeom prst="ellipse">
            <a:avLst/>
          </a:prstGeom>
          <a:solidFill>
            <a:srgbClr val="5C2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658600" y="6528816"/>
            <a:ext cx="301752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129844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D2D2D"/>
                </a:solidFill>
                <a:latin typeface="Aptos"/>
              </a:defRPr>
            </a:pPr>
            <a:r>
              <a:t>The room should be ready before the first client and reset before every new client. Preparation is not decoration; it is part of clinical safety.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1965960"/>
            <a:ext cx="5257800" cy="2651760"/>
          </a:xfrm>
          <a:prstGeom prst="roundRect">
            <a:avLst/>
          </a:prstGeom>
          <a:solidFill>
            <a:srgbClr val="FFFFFF"/>
          </a:solidFill>
          <a:ln>
            <a:solidFill>
              <a:srgbClr val="EB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1965960"/>
            <a:ext cx="82296" cy="2651760"/>
          </a:xfrm>
          <a:prstGeom prst="rect">
            <a:avLst/>
          </a:prstGeom>
          <a:solidFill>
            <a:srgbClr val="BE53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2130552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1">
                <a:solidFill>
                  <a:srgbClr val="5C2237"/>
                </a:solidFill>
                <a:latin typeface="Aptos"/>
              </a:defRPr>
            </a:pPr>
            <a:r>
              <a:t>Standard to Follow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2496312"/>
            <a:ext cx="484632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2D2D2D"/>
                </a:solidFill>
                <a:latin typeface="Aptos"/>
              </a:defRPr>
            </a:pPr>
            <a:r>
              <a:t>Room is clean, ventilated, well-lit, and free from unnecessary items.</a:t>
            </a:r>
          </a:p>
          <a:p>
            <a:pPr>
              <a:spcAft>
                <a:spcPts val="400"/>
              </a:spcAft>
              <a:defRPr sz="1250">
                <a:solidFill>
                  <a:srgbClr val="2D2D2D"/>
                </a:solidFill>
                <a:latin typeface="Aptos"/>
              </a:defRPr>
            </a:pPr>
            <a:r>
              <a:t>Treatment bed/chair is covered with fresh disposable or clean linen.</a:t>
            </a:r>
          </a:p>
          <a:p>
            <a:pPr>
              <a:spcAft>
                <a:spcPts val="400"/>
              </a:spcAft>
              <a:defRPr sz="1250">
                <a:solidFill>
                  <a:srgbClr val="2D2D2D"/>
                </a:solidFill>
                <a:latin typeface="Aptos"/>
              </a:defRPr>
            </a:pPr>
            <a:r>
              <a:t>PPE, wipes, gauze, cotton, bins, sharps container, and emergency contacts are available.</a:t>
            </a:r>
          </a:p>
          <a:p>
            <a:pPr>
              <a:spcAft>
                <a:spcPts val="400"/>
              </a:spcAft>
              <a:defRPr sz="1250">
                <a:solidFill>
                  <a:srgbClr val="2D2D2D"/>
                </a:solidFill>
                <a:latin typeface="Aptos"/>
              </a:defRPr>
            </a:pPr>
            <a:r>
              <a:t>Products and consumables are within expiry date and stored correctly.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1965960"/>
            <a:ext cx="5257800" cy="2651760"/>
          </a:xfrm>
          <a:prstGeom prst="roundRect">
            <a:avLst/>
          </a:prstGeom>
          <a:solidFill>
            <a:srgbClr val="FFFFFF"/>
          </a:solidFill>
          <a:ln>
            <a:solidFill>
              <a:srgbClr val="EB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63640" y="1965960"/>
            <a:ext cx="82296" cy="2651760"/>
          </a:xfrm>
          <a:prstGeom prst="rect">
            <a:avLst/>
          </a:prstGeom>
          <a:solidFill>
            <a:srgbClr val="D6AB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2130552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1">
                <a:solidFill>
                  <a:srgbClr val="5C2237"/>
                </a:solidFill>
                <a:latin typeface="Aptos"/>
              </a:defRPr>
            </a:pPr>
            <a:r>
              <a:t>What Staff Should Do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2496312"/>
            <a:ext cx="484632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2D2D2D"/>
                </a:solidFill>
                <a:latin typeface="Aptos"/>
              </a:defRPr>
            </a:pPr>
            <a:r>
              <a:t>Open with a room readiness check before clients arrive.</a:t>
            </a:r>
          </a:p>
          <a:p>
            <a:pPr>
              <a:spcAft>
                <a:spcPts val="400"/>
              </a:spcAft>
              <a:defRPr sz="1250">
                <a:solidFill>
                  <a:srgbClr val="2D2D2D"/>
                </a:solidFill>
                <a:latin typeface="Aptos"/>
              </a:defRPr>
            </a:pPr>
            <a:r>
              <a:t>Stock only what is needed for the day’s treatments.</a:t>
            </a:r>
          </a:p>
          <a:p>
            <a:pPr>
              <a:spcAft>
                <a:spcPts val="400"/>
              </a:spcAft>
              <a:defRPr sz="1250">
                <a:solidFill>
                  <a:srgbClr val="2D2D2D"/>
                </a:solidFill>
                <a:latin typeface="Aptos"/>
              </a:defRPr>
            </a:pPr>
            <a:r>
              <a:t>Check lighting, power supply, equipment cables, and room temperature.</a:t>
            </a:r>
          </a:p>
          <a:p>
            <a:pPr>
              <a:spcAft>
                <a:spcPts val="400"/>
              </a:spcAft>
              <a:defRPr sz="1250">
                <a:solidFill>
                  <a:srgbClr val="2D2D2D"/>
                </a:solidFill>
                <a:latin typeface="Aptos"/>
              </a:defRPr>
            </a:pPr>
            <a:r>
              <a:t>Remove personal items, food, drinks, and unrelated materials from the treatment space.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892040"/>
            <a:ext cx="10835640" cy="777240"/>
          </a:xfrm>
          <a:prstGeom prst="roundRect">
            <a:avLst/>
          </a:prstGeom>
          <a:solidFill>
            <a:srgbClr val="FCF1F5"/>
          </a:solidFill>
          <a:ln>
            <a:solidFill>
              <a:srgbClr val="EED1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5047488"/>
            <a:ext cx="1508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BE5376"/>
                </a:solidFill>
                <a:latin typeface="Aptos"/>
              </a:defRPr>
            </a:pPr>
            <a:r>
              <a:t>Clinical reminder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23160" y="5020056"/>
            <a:ext cx="8732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5C2237"/>
                </a:solidFill>
                <a:latin typeface="Aptos"/>
              </a:defRPr>
            </a:pPr>
            <a:r>
              <a:t>A room is not ready because it looks beautiful; it is ready when it is clean, stocked, safe, and organized.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C2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8229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BE5376"/>
                </a:solidFill>
                <a:latin typeface="Aptos"/>
              </a:defRPr>
            </a:pPr>
            <a:r>
              <a:t>CORE AREA 2 · ROOM READINESS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5C2237"/>
                </a:solidFill>
                <a:latin typeface="Aptos Display"/>
              </a:defRPr>
            </a:pPr>
            <a:r>
              <a:t>Pretreatment Checklist and Readiness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064240" y="411480"/>
            <a:ext cx="658368" cy="411480"/>
          </a:xfrm>
          <a:prstGeom prst="roundRect">
            <a:avLst/>
          </a:prstGeom>
          <a:solidFill>
            <a:srgbClr val="FCF1F5"/>
          </a:solidFill>
          <a:ln>
            <a:solidFill>
              <a:srgbClr val="BE53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64240" y="512064"/>
            <a:ext cx="65836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5C2237"/>
                </a:solidFill>
                <a:latin typeface="Aptos"/>
              </a:defRPr>
            </a:pPr>
            <a:r>
              <a:t>HP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9672"/>
            <a:ext cx="12191695" cy="45720"/>
          </a:xfrm>
          <a:prstGeom prst="rect">
            <a:avLst/>
          </a:prstGeom>
          <a:solidFill>
            <a:srgbClr val="BE53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574536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Aptos"/>
              </a:defRPr>
            </a:pPr>
            <a:r>
              <a:t>Helloperfect Aesthetic Clinic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3360" y="6574536"/>
            <a:ext cx="4206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6E6E6E"/>
                </a:solidFill>
                <a:latin typeface="Aptos"/>
              </a:defRPr>
            </a:pPr>
            <a:r>
              <a:t>Treatment Room Protocol &amp; Clinical Best Practice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657453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6E6E6E"/>
                </a:solidFill>
                <a:latin typeface="Aptos"/>
              </a:defRPr>
            </a:pPr>
            <a:r>
              <a:t>Facilitator: Chidindu Solace</a:t>
            </a:r>
          </a:p>
        </p:txBody>
      </p:sp>
      <p:sp>
        <p:nvSpPr>
          <p:cNvPr id="11" name="Oval 10"/>
          <p:cNvSpPr/>
          <p:nvPr/>
        </p:nvSpPr>
        <p:spPr>
          <a:xfrm>
            <a:off x="11658600" y="6483096"/>
            <a:ext cx="301752" cy="301752"/>
          </a:xfrm>
          <a:prstGeom prst="ellipse">
            <a:avLst/>
          </a:prstGeom>
          <a:solidFill>
            <a:srgbClr val="5C2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658600" y="6528816"/>
            <a:ext cx="301752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129844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D2D2D"/>
                </a:solidFill>
                <a:latin typeface="Aptos"/>
              </a:defRPr>
            </a:pPr>
            <a:r>
              <a:t>The pretreatment checklist confirms that the right client is receiving the right treatment under the right conditions.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1965960"/>
            <a:ext cx="5257800" cy="2651760"/>
          </a:xfrm>
          <a:prstGeom prst="roundRect">
            <a:avLst/>
          </a:prstGeom>
          <a:solidFill>
            <a:srgbClr val="FFFFFF"/>
          </a:solidFill>
          <a:ln>
            <a:solidFill>
              <a:srgbClr val="EB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1965960"/>
            <a:ext cx="82296" cy="2651760"/>
          </a:xfrm>
          <a:prstGeom prst="rect">
            <a:avLst/>
          </a:prstGeom>
          <a:solidFill>
            <a:srgbClr val="BE53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2130552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1">
                <a:solidFill>
                  <a:srgbClr val="5C2237"/>
                </a:solidFill>
                <a:latin typeface="Aptos"/>
              </a:defRPr>
            </a:pPr>
            <a:r>
              <a:t>Standard to Follow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2496312"/>
            <a:ext cx="484632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2D2D2D"/>
                </a:solidFill>
                <a:latin typeface="Aptos"/>
              </a:defRPr>
            </a:pPr>
            <a:r>
              <a:t>Confirm client identity, appointment details, and selected treatment.</a:t>
            </a:r>
          </a:p>
          <a:p>
            <a:pPr>
              <a:spcAft>
                <a:spcPts val="400"/>
              </a:spcAft>
              <a:defRPr sz="1250">
                <a:solidFill>
                  <a:srgbClr val="2D2D2D"/>
                </a:solidFill>
                <a:latin typeface="Aptos"/>
              </a:defRPr>
            </a:pPr>
            <a:r>
              <a:t>Review medical history, allergies, pregnancy status where relevant, medications, and contraindications.</a:t>
            </a:r>
          </a:p>
          <a:p>
            <a:pPr>
              <a:spcAft>
                <a:spcPts val="400"/>
              </a:spcAft>
              <a:defRPr sz="1250">
                <a:solidFill>
                  <a:srgbClr val="2D2D2D"/>
                </a:solidFill>
                <a:latin typeface="Aptos"/>
              </a:defRPr>
            </a:pPr>
            <a:r>
              <a:t>Confirm consent, treatment explanation, aftercare understanding, and client questions.</a:t>
            </a:r>
          </a:p>
          <a:p>
            <a:pPr>
              <a:spcAft>
                <a:spcPts val="400"/>
              </a:spcAft>
              <a:defRPr sz="1250">
                <a:solidFill>
                  <a:srgbClr val="2D2D2D"/>
                </a:solidFill>
                <a:latin typeface="Aptos"/>
              </a:defRPr>
            </a:pPr>
            <a:r>
              <a:t>Check that required products, tools, PPE, and documentation forms are ready.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1965960"/>
            <a:ext cx="5257800" cy="2651760"/>
          </a:xfrm>
          <a:prstGeom prst="roundRect">
            <a:avLst/>
          </a:prstGeom>
          <a:solidFill>
            <a:srgbClr val="FFFFFF"/>
          </a:solidFill>
          <a:ln>
            <a:solidFill>
              <a:srgbClr val="EB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63640" y="1965960"/>
            <a:ext cx="82296" cy="2651760"/>
          </a:xfrm>
          <a:prstGeom prst="rect">
            <a:avLst/>
          </a:prstGeom>
          <a:solidFill>
            <a:srgbClr val="D6AB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2130552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1">
                <a:solidFill>
                  <a:srgbClr val="5C2237"/>
                </a:solidFill>
                <a:latin typeface="Aptos"/>
              </a:defRPr>
            </a:pPr>
            <a:r>
              <a:t>What Staff Should Do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2496312"/>
            <a:ext cx="484632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2D2D2D"/>
                </a:solidFill>
                <a:latin typeface="Aptos"/>
              </a:defRPr>
            </a:pPr>
            <a:r>
              <a:t>Ask open questions instead of assuming nothing has changed.</a:t>
            </a:r>
          </a:p>
          <a:p>
            <a:pPr>
              <a:spcAft>
                <a:spcPts val="400"/>
              </a:spcAft>
              <a:defRPr sz="1250">
                <a:solidFill>
                  <a:srgbClr val="2D2D2D"/>
                </a:solidFill>
                <a:latin typeface="Aptos"/>
              </a:defRPr>
            </a:pPr>
            <a:r>
              <a:t>Document any new concern before treatment begins.</a:t>
            </a:r>
          </a:p>
          <a:p>
            <a:pPr>
              <a:spcAft>
                <a:spcPts val="400"/>
              </a:spcAft>
              <a:defRPr sz="1250">
                <a:solidFill>
                  <a:srgbClr val="2D2D2D"/>
                </a:solidFill>
                <a:latin typeface="Aptos"/>
              </a:defRPr>
            </a:pPr>
            <a:r>
              <a:t>Do not start if consent is unclear or contraindications are present.</a:t>
            </a:r>
          </a:p>
          <a:p>
            <a:pPr>
              <a:spcAft>
                <a:spcPts val="400"/>
              </a:spcAft>
              <a:defRPr sz="1250">
                <a:solidFill>
                  <a:srgbClr val="2D2D2D"/>
                </a:solidFill>
                <a:latin typeface="Aptos"/>
              </a:defRPr>
            </a:pPr>
            <a:r>
              <a:t>Escalate anything outside staff authority to the supervising clinician.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892040"/>
            <a:ext cx="10835640" cy="777240"/>
          </a:xfrm>
          <a:prstGeom prst="roundRect">
            <a:avLst/>
          </a:prstGeom>
          <a:solidFill>
            <a:srgbClr val="FCF1F5"/>
          </a:solidFill>
          <a:ln>
            <a:solidFill>
              <a:srgbClr val="EED1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5047488"/>
            <a:ext cx="1508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BE5376"/>
                </a:solidFill>
                <a:latin typeface="Aptos"/>
              </a:defRPr>
            </a:pPr>
            <a:r>
              <a:t>Clinical reminder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23160" y="5020056"/>
            <a:ext cx="8732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5C2237"/>
                </a:solidFill>
                <a:latin typeface="Aptos"/>
              </a:defRPr>
            </a:pPr>
            <a:r>
              <a:t>The safest time to catch a problem is before treatment begins.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C2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8229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BE5376"/>
                </a:solidFill>
                <a:latin typeface="Aptos"/>
              </a:defRPr>
            </a:pPr>
            <a:r>
              <a:t>CORE AREA 3 · ROOM READINESS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5C2237"/>
                </a:solidFill>
                <a:latin typeface="Aptos Display"/>
              </a:defRPr>
            </a:pPr>
            <a:r>
              <a:t>Equipment Organization Before a Client Enters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064240" y="411480"/>
            <a:ext cx="658368" cy="411480"/>
          </a:xfrm>
          <a:prstGeom prst="roundRect">
            <a:avLst/>
          </a:prstGeom>
          <a:solidFill>
            <a:srgbClr val="FCF1F5"/>
          </a:solidFill>
          <a:ln>
            <a:solidFill>
              <a:srgbClr val="BE53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64240" y="512064"/>
            <a:ext cx="65836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5C2237"/>
                </a:solidFill>
                <a:latin typeface="Aptos"/>
              </a:defRPr>
            </a:pPr>
            <a:r>
              <a:t>HP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9672"/>
            <a:ext cx="12191695" cy="45720"/>
          </a:xfrm>
          <a:prstGeom prst="rect">
            <a:avLst/>
          </a:prstGeom>
          <a:solidFill>
            <a:srgbClr val="BE53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574536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Aptos"/>
              </a:defRPr>
            </a:pPr>
            <a:r>
              <a:t>Helloperfect Aesthetic Clinic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3360" y="6574536"/>
            <a:ext cx="4206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6E6E6E"/>
                </a:solidFill>
                <a:latin typeface="Aptos"/>
              </a:defRPr>
            </a:pPr>
            <a:r>
              <a:t>Treatment Room Protocol &amp; Clinical Best Practice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657453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6E6E6E"/>
                </a:solidFill>
                <a:latin typeface="Aptos"/>
              </a:defRPr>
            </a:pPr>
            <a:r>
              <a:t>Facilitator: Chidindu Solace</a:t>
            </a:r>
          </a:p>
        </p:txBody>
      </p:sp>
      <p:sp>
        <p:nvSpPr>
          <p:cNvPr id="11" name="Oval 10"/>
          <p:cNvSpPr/>
          <p:nvPr/>
        </p:nvSpPr>
        <p:spPr>
          <a:xfrm>
            <a:off x="11658600" y="6483096"/>
            <a:ext cx="301752" cy="301752"/>
          </a:xfrm>
          <a:prstGeom prst="ellipse">
            <a:avLst/>
          </a:prstGeom>
          <a:solidFill>
            <a:srgbClr val="5C2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658600" y="6528816"/>
            <a:ext cx="301752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129844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D2D2D"/>
                </a:solidFill>
                <a:latin typeface="Aptos"/>
              </a:defRPr>
            </a:pPr>
            <a:r>
              <a:t>Equipment should be positioned to support a smooth, safe treatment flow without creating clutter or contamination risk.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1965960"/>
            <a:ext cx="5257800" cy="2651760"/>
          </a:xfrm>
          <a:prstGeom prst="roundRect">
            <a:avLst/>
          </a:prstGeom>
          <a:solidFill>
            <a:srgbClr val="FFFFFF"/>
          </a:solidFill>
          <a:ln>
            <a:solidFill>
              <a:srgbClr val="EB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1965960"/>
            <a:ext cx="82296" cy="2651760"/>
          </a:xfrm>
          <a:prstGeom prst="rect">
            <a:avLst/>
          </a:prstGeom>
          <a:solidFill>
            <a:srgbClr val="BE53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2130552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1">
                <a:solidFill>
                  <a:srgbClr val="5C2237"/>
                </a:solidFill>
                <a:latin typeface="Aptos"/>
              </a:defRPr>
            </a:pPr>
            <a:r>
              <a:t>Standard to Follow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2496312"/>
            <a:ext cx="484632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2D2D2D"/>
                </a:solidFill>
                <a:latin typeface="Aptos"/>
              </a:defRPr>
            </a:pPr>
            <a:r>
              <a:t>Tools are arranged in sequence of use and placed on a clean surface or tray.</a:t>
            </a:r>
          </a:p>
          <a:p>
            <a:pPr>
              <a:spcAft>
                <a:spcPts val="400"/>
              </a:spcAft>
              <a:defRPr sz="1250">
                <a:solidFill>
                  <a:srgbClr val="2D2D2D"/>
                </a:solidFill>
                <a:latin typeface="Aptos"/>
              </a:defRPr>
            </a:pPr>
            <a:r>
              <a:t>Sterile or clean items remain protected until use.</a:t>
            </a:r>
          </a:p>
          <a:p>
            <a:pPr>
              <a:spcAft>
                <a:spcPts val="400"/>
              </a:spcAft>
              <a:defRPr sz="1250">
                <a:solidFill>
                  <a:srgbClr val="2D2D2D"/>
                </a:solidFill>
                <a:latin typeface="Aptos"/>
              </a:defRPr>
            </a:pPr>
            <a:r>
              <a:t>Single-use items are prepared but not opened too early.</a:t>
            </a:r>
          </a:p>
          <a:p>
            <a:pPr>
              <a:spcAft>
                <a:spcPts val="400"/>
              </a:spcAft>
              <a:defRPr sz="1250">
                <a:solidFill>
                  <a:srgbClr val="2D2D2D"/>
                </a:solidFill>
                <a:latin typeface="Aptos"/>
              </a:defRPr>
            </a:pPr>
            <a:r>
              <a:t>Clean and contaminated areas are clearly separated.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1965960"/>
            <a:ext cx="5257800" cy="2651760"/>
          </a:xfrm>
          <a:prstGeom prst="roundRect">
            <a:avLst/>
          </a:prstGeom>
          <a:solidFill>
            <a:srgbClr val="FFFFFF"/>
          </a:solidFill>
          <a:ln>
            <a:solidFill>
              <a:srgbClr val="EB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63640" y="1965960"/>
            <a:ext cx="82296" cy="2651760"/>
          </a:xfrm>
          <a:prstGeom prst="rect">
            <a:avLst/>
          </a:prstGeom>
          <a:solidFill>
            <a:srgbClr val="D6AB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2130552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1">
                <a:solidFill>
                  <a:srgbClr val="5C2237"/>
                </a:solidFill>
                <a:latin typeface="Aptos"/>
              </a:defRPr>
            </a:pPr>
            <a:r>
              <a:t>What Staff Should Do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2496312"/>
            <a:ext cx="484632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2D2D2D"/>
                </a:solidFill>
                <a:latin typeface="Aptos"/>
              </a:defRPr>
            </a:pPr>
            <a:r>
              <a:t>Test machines and handpieces before the client enters.</a:t>
            </a:r>
          </a:p>
          <a:p>
            <a:pPr>
              <a:spcAft>
                <a:spcPts val="400"/>
              </a:spcAft>
              <a:defRPr sz="1250">
                <a:solidFill>
                  <a:srgbClr val="2D2D2D"/>
                </a:solidFill>
                <a:latin typeface="Aptos"/>
              </a:defRPr>
            </a:pPr>
            <a:r>
              <a:t>Keep cords secured and walkways clear.</a:t>
            </a:r>
          </a:p>
          <a:p>
            <a:pPr>
              <a:spcAft>
                <a:spcPts val="400"/>
              </a:spcAft>
              <a:defRPr sz="1250">
                <a:solidFill>
                  <a:srgbClr val="2D2D2D"/>
                </a:solidFill>
                <a:latin typeface="Aptos"/>
              </a:defRPr>
            </a:pPr>
            <a:r>
              <a:t>Place waste bins and sharps containers within safe reach.</a:t>
            </a:r>
          </a:p>
          <a:p>
            <a:pPr>
              <a:spcAft>
                <a:spcPts val="400"/>
              </a:spcAft>
              <a:defRPr sz="1250">
                <a:solidFill>
                  <a:srgbClr val="2D2D2D"/>
                </a:solidFill>
                <a:latin typeface="Aptos"/>
              </a:defRPr>
            </a:pPr>
            <a:r>
              <a:t>Avoid moving back and forth unnecessarily during treatment.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892040"/>
            <a:ext cx="10835640" cy="777240"/>
          </a:xfrm>
          <a:prstGeom prst="roundRect">
            <a:avLst/>
          </a:prstGeom>
          <a:solidFill>
            <a:srgbClr val="FCF1F5"/>
          </a:solidFill>
          <a:ln>
            <a:solidFill>
              <a:srgbClr val="EED1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5047488"/>
            <a:ext cx="1508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BE5376"/>
                </a:solidFill>
                <a:latin typeface="Aptos"/>
              </a:defRPr>
            </a:pPr>
            <a:r>
              <a:t>Clinical reminder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23160" y="5020056"/>
            <a:ext cx="8732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5C2237"/>
                </a:solidFill>
                <a:latin typeface="Aptos"/>
              </a:defRPr>
            </a:pPr>
            <a:r>
              <a:t>Good organization reduces delays, prevents mistakes, and makes the client feel confident.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C2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8229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BE5376"/>
                </a:solidFill>
                <a:latin typeface="Aptos"/>
              </a:defRPr>
            </a:pPr>
            <a:r>
              <a:t>CORE AREA 4 · INFECTION PREVENTION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5C2237"/>
                </a:solidFill>
                <a:latin typeface="Aptos Display"/>
              </a:defRPr>
            </a:pPr>
            <a:r>
              <a:t>Infection Prevention and Control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064240" y="411480"/>
            <a:ext cx="658368" cy="411480"/>
          </a:xfrm>
          <a:prstGeom prst="roundRect">
            <a:avLst/>
          </a:prstGeom>
          <a:solidFill>
            <a:srgbClr val="FCF1F5"/>
          </a:solidFill>
          <a:ln>
            <a:solidFill>
              <a:srgbClr val="BE53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64240" y="512064"/>
            <a:ext cx="65836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5C2237"/>
                </a:solidFill>
                <a:latin typeface="Aptos"/>
              </a:defRPr>
            </a:pPr>
            <a:r>
              <a:t>HP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9672"/>
            <a:ext cx="12191695" cy="45720"/>
          </a:xfrm>
          <a:prstGeom prst="rect">
            <a:avLst/>
          </a:prstGeom>
          <a:solidFill>
            <a:srgbClr val="BE53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574536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Aptos"/>
              </a:defRPr>
            </a:pPr>
            <a:r>
              <a:t>Helloperfect Aesthetic Clinic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3360" y="6574536"/>
            <a:ext cx="4206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6E6E6E"/>
                </a:solidFill>
                <a:latin typeface="Aptos"/>
              </a:defRPr>
            </a:pPr>
            <a:r>
              <a:t>Treatment Room Protocol &amp; Clinical Best Practice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657453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6E6E6E"/>
                </a:solidFill>
                <a:latin typeface="Aptos"/>
              </a:defRPr>
            </a:pPr>
            <a:r>
              <a:t>Facilitator: Chidindu Solace</a:t>
            </a:r>
          </a:p>
        </p:txBody>
      </p:sp>
      <p:sp>
        <p:nvSpPr>
          <p:cNvPr id="11" name="Oval 10"/>
          <p:cNvSpPr/>
          <p:nvPr/>
        </p:nvSpPr>
        <p:spPr>
          <a:xfrm>
            <a:off x="11658600" y="6483096"/>
            <a:ext cx="301752" cy="301752"/>
          </a:xfrm>
          <a:prstGeom prst="ellipse">
            <a:avLst/>
          </a:prstGeom>
          <a:solidFill>
            <a:srgbClr val="5C2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658600" y="6528816"/>
            <a:ext cx="301752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129844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D2D2D"/>
                </a:solidFill>
                <a:latin typeface="Aptos"/>
              </a:defRPr>
            </a:pPr>
            <a:r>
              <a:t>Infection prevention protects clients, staff, and the clinic from avoidable transmission of microorganisms.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1965960"/>
            <a:ext cx="5257800" cy="2651760"/>
          </a:xfrm>
          <a:prstGeom prst="roundRect">
            <a:avLst/>
          </a:prstGeom>
          <a:solidFill>
            <a:srgbClr val="FFFFFF"/>
          </a:solidFill>
          <a:ln>
            <a:solidFill>
              <a:srgbClr val="EB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1965960"/>
            <a:ext cx="82296" cy="2651760"/>
          </a:xfrm>
          <a:prstGeom prst="rect">
            <a:avLst/>
          </a:prstGeom>
          <a:solidFill>
            <a:srgbClr val="BE53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2130552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1">
                <a:solidFill>
                  <a:srgbClr val="5C2237"/>
                </a:solidFill>
                <a:latin typeface="Aptos"/>
              </a:defRPr>
            </a:pPr>
            <a:r>
              <a:t>Standard to Follow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2496312"/>
            <a:ext cx="484632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2D2D2D"/>
                </a:solidFill>
                <a:latin typeface="Aptos"/>
              </a:defRPr>
            </a:pPr>
            <a:r>
              <a:t>Use standard precautions for every client, every time.</a:t>
            </a:r>
          </a:p>
          <a:p>
            <a:pPr>
              <a:spcAft>
                <a:spcPts val="400"/>
              </a:spcAft>
              <a:defRPr sz="1250">
                <a:solidFill>
                  <a:srgbClr val="2D2D2D"/>
                </a:solidFill>
                <a:latin typeface="Aptos"/>
              </a:defRPr>
            </a:pPr>
            <a:r>
              <a:t>Wear PPE based on the procedure and exposure risk.</a:t>
            </a:r>
          </a:p>
          <a:p>
            <a:pPr>
              <a:spcAft>
                <a:spcPts val="400"/>
              </a:spcAft>
              <a:defRPr sz="1250">
                <a:solidFill>
                  <a:srgbClr val="2D2D2D"/>
                </a:solidFill>
                <a:latin typeface="Aptos"/>
              </a:defRPr>
            </a:pPr>
            <a:r>
              <a:t>Avoid touching clean items with contaminated gloves.</a:t>
            </a:r>
          </a:p>
          <a:p>
            <a:pPr>
              <a:spcAft>
                <a:spcPts val="400"/>
              </a:spcAft>
              <a:defRPr sz="1250">
                <a:solidFill>
                  <a:srgbClr val="2D2D2D"/>
                </a:solidFill>
                <a:latin typeface="Aptos"/>
              </a:defRPr>
            </a:pPr>
            <a:r>
              <a:t>Dispose of waste, sharps, and contaminated materials correctly.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1965960"/>
            <a:ext cx="5257800" cy="2651760"/>
          </a:xfrm>
          <a:prstGeom prst="roundRect">
            <a:avLst/>
          </a:prstGeom>
          <a:solidFill>
            <a:srgbClr val="FFFFFF"/>
          </a:solidFill>
          <a:ln>
            <a:solidFill>
              <a:srgbClr val="EB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63640" y="1965960"/>
            <a:ext cx="82296" cy="2651760"/>
          </a:xfrm>
          <a:prstGeom prst="rect">
            <a:avLst/>
          </a:prstGeom>
          <a:solidFill>
            <a:srgbClr val="D6AB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2130552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1">
                <a:solidFill>
                  <a:srgbClr val="5C2237"/>
                </a:solidFill>
                <a:latin typeface="Aptos"/>
              </a:defRPr>
            </a:pPr>
            <a:r>
              <a:t>What Staff Should Do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2496312"/>
            <a:ext cx="484632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2D2D2D"/>
                </a:solidFill>
                <a:latin typeface="Aptos"/>
              </a:defRPr>
            </a:pPr>
            <a:r>
              <a:t>Change gloves when moving from contaminated to clean tasks.</a:t>
            </a:r>
          </a:p>
          <a:p>
            <a:pPr>
              <a:spcAft>
                <a:spcPts val="400"/>
              </a:spcAft>
              <a:defRPr sz="1250">
                <a:solidFill>
                  <a:srgbClr val="2D2D2D"/>
                </a:solidFill>
                <a:latin typeface="Aptos"/>
              </a:defRPr>
            </a:pPr>
            <a:r>
              <a:t>Clean spills immediately using approved disinfectant procedure.</a:t>
            </a:r>
          </a:p>
          <a:p>
            <a:pPr>
              <a:spcAft>
                <a:spcPts val="400"/>
              </a:spcAft>
              <a:defRPr sz="1250">
                <a:solidFill>
                  <a:srgbClr val="2D2D2D"/>
                </a:solidFill>
                <a:latin typeface="Aptos"/>
              </a:defRPr>
            </a:pPr>
            <a:r>
              <a:t>Keep product containers closed and avoid double-dipping.</a:t>
            </a:r>
          </a:p>
          <a:p>
            <a:pPr>
              <a:spcAft>
                <a:spcPts val="400"/>
              </a:spcAft>
              <a:defRPr sz="1250">
                <a:solidFill>
                  <a:srgbClr val="2D2D2D"/>
                </a:solidFill>
                <a:latin typeface="Aptos"/>
              </a:defRPr>
            </a:pPr>
            <a:r>
              <a:t>Report exposure incidents, cuts, or contamination immediately.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892040"/>
            <a:ext cx="10835640" cy="777240"/>
          </a:xfrm>
          <a:prstGeom prst="roundRect">
            <a:avLst/>
          </a:prstGeom>
          <a:solidFill>
            <a:srgbClr val="FCF1F5"/>
          </a:solidFill>
          <a:ln>
            <a:solidFill>
              <a:srgbClr val="EED1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5047488"/>
            <a:ext cx="1508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BE5376"/>
                </a:solidFill>
                <a:latin typeface="Aptos"/>
              </a:defRPr>
            </a:pPr>
            <a:r>
              <a:t>Clinical reminder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23160" y="5020056"/>
            <a:ext cx="8732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5C2237"/>
                </a:solidFill>
                <a:latin typeface="Aptos"/>
              </a:defRPr>
            </a:pPr>
            <a:r>
              <a:t>Treat every procedure as an opportunity to break the chain of infection.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C2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8229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BE5376"/>
                </a:solidFill>
                <a:latin typeface="Aptos"/>
              </a:defRPr>
            </a:pPr>
            <a:r>
              <a:t>CORE AREA 5 · INFECTION PREVENTION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5C2237"/>
                </a:solidFill>
                <a:latin typeface="Aptos Display"/>
              </a:defRPr>
            </a:pPr>
            <a:r>
              <a:t>Hand Hygiene Protocols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064240" y="411480"/>
            <a:ext cx="658368" cy="411480"/>
          </a:xfrm>
          <a:prstGeom prst="roundRect">
            <a:avLst/>
          </a:prstGeom>
          <a:solidFill>
            <a:srgbClr val="FCF1F5"/>
          </a:solidFill>
          <a:ln>
            <a:solidFill>
              <a:srgbClr val="BE53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64240" y="512064"/>
            <a:ext cx="65836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5C2237"/>
                </a:solidFill>
                <a:latin typeface="Aptos"/>
              </a:defRPr>
            </a:pPr>
            <a:r>
              <a:t>HP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9672"/>
            <a:ext cx="12191695" cy="45720"/>
          </a:xfrm>
          <a:prstGeom prst="rect">
            <a:avLst/>
          </a:prstGeom>
          <a:solidFill>
            <a:srgbClr val="BE53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574536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Aptos"/>
              </a:defRPr>
            </a:pPr>
            <a:r>
              <a:t>Helloperfect Aesthetic Clinic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3360" y="6574536"/>
            <a:ext cx="4206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6E6E6E"/>
                </a:solidFill>
                <a:latin typeface="Aptos"/>
              </a:defRPr>
            </a:pPr>
            <a:r>
              <a:t>Treatment Room Protocol &amp; Clinical Best Practice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657453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6E6E6E"/>
                </a:solidFill>
                <a:latin typeface="Aptos"/>
              </a:defRPr>
            </a:pPr>
            <a:r>
              <a:t>Facilitator: Chidindu Solace</a:t>
            </a:r>
          </a:p>
        </p:txBody>
      </p:sp>
      <p:sp>
        <p:nvSpPr>
          <p:cNvPr id="11" name="Oval 10"/>
          <p:cNvSpPr/>
          <p:nvPr/>
        </p:nvSpPr>
        <p:spPr>
          <a:xfrm>
            <a:off x="11658600" y="6483096"/>
            <a:ext cx="301752" cy="301752"/>
          </a:xfrm>
          <a:prstGeom prst="ellipse">
            <a:avLst/>
          </a:prstGeom>
          <a:solidFill>
            <a:srgbClr val="5C2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658600" y="6528816"/>
            <a:ext cx="301752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129844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D2D2D"/>
                </a:solidFill>
                <a:latin typeface="Aptos"/>
              </a:defRPr>
            </a:pPr>
            <a:r>
              <a:t>Hand hygiene is one of the most important safety habits in any clinical treatment room.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1965960"/>
            <a:ext cx="5257800" cy="2651760"/>
          </a:xfrm>
          <a:prstGeom prst="roundRect">
            <a:avLst/>
          </a:prstGeom>
          <a:solidFill>
            <a:srgbClr val="FFFFFF"/>
          </a:solidFill>
          <a:ln>
            <a:solidFill>
              <a:srgbClr val="EB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1965960"/>
            <a:ext cx="82296" cy="2651760"/>
          </a:xfrm>
          <a:prstGeom prst="rect">
            <a:avLst/>
          </a:prstGeom>
          <a:solidFill>
            <a:srgbClr val="BE53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2130552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1">
                <a:solidFill>
                  <a:srgbClr val="5C2237"/>
                </a:solidFill>
                <a:latin typeface="Aptos"/>
              </a:defRPr>
            </a:pPr>
            <a:r>
              <a:t>Standard to Follow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2496312"/>
            <a:ext cx="484632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2D2D2D"/>
                </a:solidFill>
                <a:latin typeface="Aptos"/>
              </a:defRPr>
            </a:pPr>
            <a:r>
              <a:t>Clean hands before touching the client or clean equipment.</a:t>
            </a:r>
          </a:p>
          <a:p>
            <a:pPr>
              <a:spcAft>
                <a:spcPts val="400"/>
              </a:spcAft>
              <a:defRPr sz="1250">
                <a:solidFill>
                  <a:srgbClr val="2D2D2D"/>
                </a:solidFill>
                <a:latin typeface="Aptos"/>
              </a:defRPr>
            </a:pPr>
            <a:r>
              <a:t>Clean hands before aseptic or clean procedures.</a:t>
            </a:r>
          </a:p>
          <a:p>
            <a:pPr>
              <a:spcAft>
                <a:spcPts val="400"/>
              </a:spcAft>
              <a:defRPr sz="1250">
                <a:solidFill>
                  <a:srgbClr val="2D2D2D"/>
                </a:solidFill>
                <a:latin typeface="Aptos"/>
              </a:defRPr>
            </a:pPr>
            <a:r>
              <a:t>Clean hands after body fluid exposure risk, after touching the client, and after touching client surroundings.</a:t>
            </a:r>
          </a:p>
          <a:p>
            <a:pPr>
              <a:spcAft>
                <a:spcPts val="400"/>
              </a:spcAft>
              <a:defRPr sz="1250">
                <a:solidFill>
                  <a:srgbClr val="2D2D2D"/>
                </a:solidFill>
                <a:latin typeface="Aptos"/>
              </a:defRPr>
            </a:pPr>
            <a:r>
              <a:t>Gloves do not replace hand hygiene.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1965960"/>
            <a:ext cx="5257800" cy="2651760"/>
          </a:xfrm>
          <a:prstGeom prst="roundRect">
            <a:avLst/>
          </a:prstGeom>
          <a:solidFill>
            <a:srgbClr val="FFFFFF"/>
          </a:solidFill>
          <a:ln>
            <a:solidFill>
              <a:srgbClr val="EB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63640" y="1965960"/>
            <a:ext cx="82296" cy="2651760"/>
          </a:xfrm>
          <a:prstGeom prst="rect">
            <a:avLst/>
          </a:prstGeom>
          <a:solidFill>
            <a:srgbClr val="D6AB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2130552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1">
                <a:solidFill>
                  <a:srgbClr val="5C2237"/>
                </a:solidFill>
                <a:latin typeface="Aptos"/>
              </a:defRPr>
            </a:pPr>
            <a:r>
              <a:t>What Staff Should Do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2496312"/>
            <a:ext cx="484632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2D2D2D"/>
                </a:solidFill>
                <a:latin typeface="Aptos"/>
              </a:defRPr>
            </a:pPr>
            <a:r>
              <a:t>Use soap and water when hands are visibly dirty.</a:t>
            </a:r>
          </a:p>
          <a:p>
            <a:pPr>
              <a:spcAft>
                <a:spcPts val="400"/>
              </a:spcAft>
              <a:defRPr sz="1250">
                <a:solidFill>
                  <a:srgbClr val="2D2D2D"/>
                </a:solidFill>
                <a:latin typeface="Aptos"/>
              </a:defRPr>
            </a:pPr>
            <a:r>
              <a:t>Use alcohol-based hand rub when appropriate and rub all hand surfaces until dry.</a:t>
            </a:r>
          </a:p>
          <a:p>
            <a:pPr>
              <a:spcAft>
                <a:spcPts val="400"/>
              </a:spcAft>
              <a:defRPr sz="1250">
                <a:solidFill>
                  <a:srgbClr val="2D2D2D"/>
                </a:solidFill>
                <a:latin typeface="Aptos"/>
              </a:defRPr>
            </a:pPr>
            <a:r>
              <a:t>Remove hand jewellery where clinic policy requires it.</a:t>
            </a:r>
          </a:p>
          <a:p>
            <a:pPr>
              <a:spcAft>
                <a:spcPts val="400"/>
              </a:spcAft>
              <a:defRPr sz="1250">
                <a:solidFill>
                  <a:srgbClr val="2D2D2D"/>
                </a:solidFill>
                <a:latin typeface="Aptos"/>
              </a:defRPr>
            </a:pPr>
            <a:r>
              <a:t>Always clean hands after removing gloves.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892040"/>
            <a:ext cx="10835640" cy="777240"/>
          </a:xfrm>
          <a:prstGeom prst="roundRect">
            <a:avLst/>
          </a:prstGeom>
          <a:solidFill>
            <a:srgbClr val="FCF1F5"/>
          </a:solidFill>
          <a:ln>
            <a:solidFill>
              <a:srgbClr val="EED1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5047488"/>
            <a:ext cx="1508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BE5376"/>
                </a:solidFill>
                <a:latin typeface="Aptos"/>
              </a:defRPr>
            </a:pPr>
            <a:r>
              <a:t>Clinical reminder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23160" y="5020056"/>
            <a:ext cx="8732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5C2237"/>
                </a:solidFill>
                <a:latin typeface="Aptos"/>
              </a:defRPr>
            </a:pPr>
            <a:r>
              <a:t>Clean hands before gloves. Clean hands after gloves. Gloves are a barrier, not a substitute.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C2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8229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BE5376"/>
                </a:solidFill>
                <a:latin typeface="Aptos"/>
              </a:defRPr>
            </a:pPr>
            <a:r>
              <a:t>CORE AREA 6 · INFECTION PREVENTION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5C2237"/>
                </a:solidFill>
                <a:latin typeface="Aptos Display"/>
              </a:defRPr>
            </a:pPr>
            <a:r>
              <a:t>Equipment Cleaning, Sterilization and Storage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064240" y="411480"/>
            <a:ext cx="658368" cy="411480"/>
          </a:xfrm>
          <a:prstGeom prst="roundRect">
            <a:avLst/>
          </a:prstGeom>
          <a:solidFill>
            <a:srgbClr val="FCF1F5"/>
          </a:solidFill>
          <a:ln>
            <a:solidFill>
              <a:srgbClr val="BE53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64240" y="512064"/>
            <a:ext cx="65836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5C2237"/>
                </a:solidFill>
                <a:latin typeface="Aptos"/>
              </a:defRPr>
            </a:pPr>
            <a:r>
              <a:t>HP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9672"/>
            <a:ext cx="12191695" cy="45720"/>
          </a:xfrm>
          <a:prstGeom prst="rect">
            <a:avLst/>
          </a:prstGeom>
          <a:solidFill>
            <a:srgbClr val="BE53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574536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Aptos"/>
              </a:defRPr>
            </a:pPr>
            <a:r>
              <a:t>Helloperfect Aesthetic Clinic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3360" y="6574536"/>
            <a:ext cx="4206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6E6E6E"/>
                </a:solidFill>
                <a:latin typeface="Aptos"/>
              </a:defRPr>
            </a:pPr>
            <a:r>
              <a:t>Treatment Room Protocol &amp; Clinical Best Practice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657453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6E6E6E"/>
                </a:solidFill>
                <a:latin typeface="Aptos"/>
              </a:defRPr>
            </a:pPr>
            <a:r>
              <a:t>Facilitator: Chidindu Solace</a:t>
            </a:r>
          </a:p>
        </p:txBody>
      </p:sp>
      <p:sp>
        <p:nvSpPr>
          <p:cNvPr id="11" name="Oval 10"/>
          <p:cNvSpPr/>
          <p:nvPr/>
        </p:nvSpPr>
        <p:spPr>
          <a:xfrm>
            <a:off x="11658600" y="6483096"/>
            <a:ext cx="301752" cy="301752"/>
          </a:xfrm>
          <a:prstGeom prst="ellipse">
            <a:avLst/>
          </a:prstGeom>
          <a:solidFill>
            <a:srgbClr val="5C2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658600" y="6528816"/>
            <a:ext cx="301752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129844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D2D2D"/>
                </a:solidFill>
                <a:latin typeface="Aptos"/>
              </a:defRPr>
            </a:pPr>
            <a:r>
              <a:t>Equipment must be cleaned and processed according to how it is used and the level of infection risk.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1965960"/>
            <a:ext cx="5257800" cy="2651760"/>
          </a:xfrm>
          <a:prstGeom prst="roundRect">
            <a:avLst/>
          </a:prstGeom>
          <a:solidFill>
            <a:srgbClr val="FFFFFF"/>
          </a:solidFill>
          <a:ln>
            <a:solidFill>
              <a:srgbClr val="EB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1965960"/>
            <a:ext cx="82296" cy="2651760"/>
          </a:xfrm>
          <a:prstGeom prst="rect">
            <a:avLst/>
          </a:prstGeom>
          <a:solidFill>
            <a:srgbClr val="BE53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2130552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1">
                <a:solidFill>
                  <a:srgbClr val="5C2237"/>
                </a:solidFill>
                <a:latin typeface="Aptos"/>
              </a:defRPr>
            </a:pPr>
            <a:r>
              <a:t>Standard to Follow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2496312"/>
            <a:ext cx="484632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2D2D2D"/>
                </a:solidFill>
                <a:latin typeface="Aptos"/>
              </a:defRPr>
            </a:pPr>
            <a:r>
              <a:t>Clean visible soil before disinfection or sterilization.</a:t>
            </a:r>
          </a:p>
          <a:p>
            <a:pPr>
              <a:spcAft>
                <a:spcPts val="400"/>
              </a:spcAft>
              <a:defRPr sz="1250">
                <a:solidFill>
                  <a:srgbClr val="2D2D2D"/>
                </a:solidFill>
                <a:latin typeface="Aptos"/>
              </a:defRPr>
            </a:pPr>
            <a:r>
              <a:t>Use approved disinfectants with the correct contact time.</a:t>
            </a:r>
          </a:p>
          <a:p>
            <a:pPr>
              <a:spcAft>
                <a:spcPts val="400"/>
              </a:spcAft>
              <a:defRPr sz="1250">
                <a:solidFill>
                  <a:srgbClr val="2D2D2D"/>
                </a:solidFill>
                <a:latin typeface="Aptos"/>
              </a:defRPr>
            </a:pPr>
            <a:r>
              <a:t>Sterilize or high-level disinfect items where procedure risk requires it.</a:t>
            </a:r>
          </a:p>
          <a:p>
            <a:pPr>
              <a:spcAft>
                <a:spcPts val="400"/>
              </a:spcAft>
              <a:defRPr sz="1250">
                <a:solidFill>
                  <a:srgbClr val="2D2D2D"/>
                </a:solidFill>
                <a:latin typeface="Aptos"/>
              </a:defRPr>
            </a:pPr>
            <a:r>
              <a:t>Store clean equipment in dry, closed, labelled, and protected areas.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1965960"/>
            <a:ext cx="5257800" cy="2651760"/>
          </a:xfrm>
          <a:prstGeom prst="roundRect">
            <a:avLst/>
          </a:prstGeom>
          <a:solidFill>
            <a:srgbClr val="FFFFFF"/>
          </a:solidFill>
          <a:ln>
            <a:solidFill>
              <a:srgbClr val="EB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63640" y="1965960"/>
            <a:ext cx="82296" cy="2651760"/>
          </a:xfrm>
          <a:prstGeom prst="rect">
            <a:avLst/>
          </a:prstGeom>
          <a:solidFill>
            <a:srgbClr val="D6AB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2130552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1">
                <a:solidFill>
                  <a:srgbClr val="5C2237"/>
                </a:solidFill>
                <a:latin typeface="Aptos"/>
              </a:defRPr>
            </a:pPr>
            <a:r>
              <a:t>What Staff Should Do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2496312"/>
            <a:ext cx="484632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2D2D2D"/>
                </a:solidFill>
                <a:latin typeface="Aptos"/>
              </a:defRPr>
            </a:pPr>
            <a:r>
              <a:t>Separate used equipment from clean equipment immediately.</a:t>
            </a:r>
          </a:p>
          <a:p>
            <a:pPr>
              <a:spcAft>
                <a:spcPts val="400"/>
              </a:spcAft>
              <a:defRPr sz="1250">
                <a:solidFill>
                  <a:srgbClr val="2D2D2D"/>
                </a:solidFill>
                <a:latin typeface="Aptos"/>
              </a:defRPr>
            </a:pPr>
            <a:r>
              <a:t>Follow manufacturer instructions for devices and disinfectants.</a:t>
            </a:r>
          </a:p>
          <a:p>
            <a:pPr>
              <a:spcAft>
                <a:spcPts val="400"/>
              </a:spcAft>
              <a:defRPr sz="1250">
                <a:solidFill>
                  <a:srgbClr val="2D2D2D"/>
                </a:solidFill>
                <a:latin typeface="Aptos"/>
              </a:defRPr>
            </a:pPr>
            <a:r>
              <a:t>Do not store sterile items near sinks, waste, or dirty surfaces.</a:t>
            </a:r>
          </a:p>
          <a:p>
            <a:pPr>
              <a:spcAft>
                <a:spcPts val="400"/>
              </a:spcAft>
              <a:defRPr sz="1250">
                <a:solidFill>
                  <a:srgbClr val="2D2D2D"/>
                </a:solidFill>
                <a:latin typeface="Aptos"/>
              </a:defRPr>
            </a:pPr>
            <a:r>
              <a:t>Record sterilization cycles or cleaning logs where required by clinic policy.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892040"/>
            <a:ext cx="10835640" cy="777240"/>
          </a:xfrm>
          <a:prstGeom prst="roundRect">
            <a:avLst/>
          </a:prstGeom>
          <a:solidFill>
            <a:srgbClr val="FCF1F5"/>
          </a:solidFill>
          <a:ln>
            <a:solidFill>
              <a:srgbClr val="EED1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5047488"/>
            <a:ext cx="1508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BE5376"/>
                </a:solidFill>
                <a:latin typeface="Aptos"/>
              </a:defRPr>
            </a:pPr>
            <a:r>
              <a:t>Clinical reminder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23160" y="5020056"/>
            <a:ext cx="8732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5C2237"/>
                </a:solidFill>
                <a:latin typeface="Aptos"/>
              </a:defRPr>
            </a:pPr>
            <a:r>
              <a:t>Dirty equipment cannot be made safe by storage. Cleaning must happen before reuse.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C2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8229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BE5376"/>
                </a:solidFill>
                <a:latin typeface="Aptos"/>
              </a:defRPr>
            </a:pPr>
            <a:r>
              <a:t>CORE AREA 7 · INFECTION PREVENTION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5C2237"/>
                </a:solidFill>
                <a:latin typeface="Aptos Display"/>
              </a:defRPr>
            </a:pPr>
            <a:r>
              <a:t>Treatment Room Hygiene Standards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064240" y="411480"/>
            <a:ext cx="658368" cy="411480"/>
          </a:xfrm>
          <a:prstGeom prst="roundRect">
            <a:avLst/>
          </a:prstGeom>
          <a:solidFill>
            <a:srgbClr val="FCF1F5"/>
          </a:solidFill>
          <a:ln>
            <a:solidFill>
              <a:srgbClr val="BE53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64240" y="512064"/>
            <a:ext cx="65836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5C2237"/>
                </a:solidFill>
                <a:latin typeface="Aptos"/>
              </a:defRPr>
            </a:pPr>
            <a:r>
              <a:t>HP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9672"/>
            <a:ext cx="12191695" cy="45720"/>
          </a:xfrm>
          <a:prstGeom prst="rect">
            <a:avLst/>
          </a:prstGeom>
          <a:solidFill>
            <a:srgbClr val="BE53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574536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Aptos"/>
              </a:defRPr>
            </a:pPr>
            <a:r>
              <a:t>Helloperfect Aesthetic Clinic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3360" y="6574536"/>
            <a:ext cx="4206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6E6E6E"/>
                </a:solidFill>
                <a:latin typeface="Aptos"/>
              </a:defRPr>
            </a:pPr>
            <a:r>
              <a:t>Treatment Room Protocol &amp; Clinical Best Practice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657453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6E6E6E"/>
                </a:solidFill>
                <a:latin typeface="Aptos"/>
              </a:defRPr>
            </a:pPr>
            <a:r>
              <a:t>Facilitator: Chidindu Solace</a:t>
            </a:r>
          </a:p>
        </p:txBody>
      </p:sp>
      <p:sp>
        <p:nvSpPr>
          <p:cNvPr id="11" name="Oval 10"/>
          <p:cNvSpPr/>
          <p:nvPr/>
        </p:nvSpPr>
        <p:spPr>
          <a:xfrm>
            <a:off x="11658600" y="6483096"/>
            <a:ext cx="301752" cy="301752"/>
          </a:xfrm>
          <a:prstGeom prst="ellipse">
            <a:avLst/>
          </a:prstGeom>
          <a:solidFill>
            <a:srgbClr val="5C2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658600" y="6528816"/>
            <a:ext cx="301752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129844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D2D2D"/>
                </a:solidFill>
                <a:latin typeface="Aptos"/>
              </a:defRPr>
            </a:pPr>
            <a:r>
              <a:t>Aesthetic treatments require a room that is visibly clean and clinically hygienic throughout the day.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1965960"/>
            <a:ext cx="5257800" cy="2651760"/>
          </a:xfrm>
          <a:prstGeom prst="roundRect">
            <a:avLst/>
          </a:prstGeom>
          <a:solidFill>
            <a:srgbClr val="FFFFFF"/>
          </a:solidFill>
          <a:ln>
            <a:solidFill>
              <a:srgbClr val="EB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1965960"/>
            <a:ext cx="82296" cy="2651760"/>
          </a:xfrm>
          <a:prstGeom prst="rect">
            <a:avLst/>
          </a:prstGeom>
          <a:solidFill>
            <a:srgbClr val="BE53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2130552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1">
                <a:solidFill>
                  <a:srgbClr val="5C2237"/>
                </a:solidFill>
                <a:latin typeface="Aptos"/>
              </a:defRPr>
            </a:pPr>
            <a:r>
              <a:t>Standard to Follow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2496312"/>
            <a:ext cx="484632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2D2D2D"/>
                </a:solidFill>
                <a:latin typeface="Aptos"/>
              </a:defRPr>
            </a:pPr>
            <a:r>
              <a:t>High-touch surfaces are disinfected between clients.</a:t>
            </a:r>
          </a:p>
          <a:p>
            <a:pPr>
              <a:spcAft>
                <a:spcPts val="400"/>
              </a:spcAft>
              <a:defRPr sz="1250">
                <a:solidFill>
                  <a:srgbClr val="2D2D2D"/>
                </a:solidFill>
                <a:latin typeface="Aptos"/>
              </a:defRPr>
            </a:pPr>
            <a:r>
              <a:t>Floors, counters, handles, switches, bed controls, trolleys, and devices follow cleaning schedule.</a:t>
            </a:r>
          </a:p>
          <a:p>
            <a:pPr>
              <a:spcAft>
                <a:spcPts val="400"/>
              </a:spcAft>
              <a:defRPr sz="1250">
                <a:solidFill>
                  <a:srgbClr val="2D2D2D"/>
                </a:solidFill>
                <a:latin typeface="Aptos"/>
              </a:defRPr>
            </a:pPr>
            <a:r>
              <a:t>Waste bins are lined, covered where required, and emptied before overflow.</a:t>
            </a:r>
          </a:p>
          <a:p>
            <a:pPr>
              <a:spcAft>
                <a:spcPts val="400"/>
              </a:spcAft>
              <a:defRPr sz="1250">
                <a:solidFill>
                  <a:srgbClr val="2D2D2D"/>
                </a:solidFill>
                <a:latin typeface="Aptos"/>
              </a:defRPr>
            </a:pPr>
            <a:r>
              <a:t>Cleaning products are labelled, available, and used correctly.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1965960"/>
            <a:ext cx="5257800" cy="2651760"/>
          </a:xfrm>
          <a:prstGeom prst="roundRect">
            <a:avLst/>
          </a:prstGeom>
          <a:solidFill>
            <a:srgbClr val="FFFFFF"/>
          </a:solidFill>
          <a:ln>
            <a:solidFill>
              <a:srgbClr val="EB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63640" y="1965960"/>
            <a:ext cx="82296" cy="2651760"/>
          </a:xfrm>
          <a:prstGeom prst="rect">
            <a:avLst/>
          </a:prstGeom>
          <a:solidFill>
            <a:srgbClr val="D6AB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2130552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1">
                <a:solidFill>
                  <a:srgbClr val="5C2237"/>
                </a:solidFill>
                <a:latin typeface="Aptos"/>
              </a:defRPr>
            </a:pPr>
            <a:r>
              <a:t>What Staff Should Do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2496312"/>
            <a:ext cx="484632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2D2D2D"/>
                </a:solidFill>
                <a:latin typeface="Aptos"/>
              </a:defRPr>
            </a:pPr>
            <a:r>
              <a:t>Clean from cleaner areas to dirtier areas.</a:t>
            </a:r>
          </a:p>
          <a:p>
            <a:pPr>
              <a:spcAft>
                <a:spcPts val="400"/>
              </a:spcAft>
              <a:defRPr sz="1250">
                <a:solidFill>
                  <a:srgbClr val="2D2D2D"/>
                </a:solidFill>
                <a:latin typeface="Aptos"/>
              </a:defRPr>
            </a:pPr>
            <a:r>
              <a:t>Never place clean supplies directly on contaminated surfaces.</a:t>
            </a:r>
          </a:p>
          <a:p>
            <a:pPr>
              <a:spcAft>
                <a:spcPts val="400"/>
              </a:spcAft>
              <a:defRPr sz="1250">
                <a:solidFill>
                  <a:srgbClr val="2D2D2D"/>
                </a:solidFill>
                <a:latin typeface="Aptos"/>
              </a:defRPr>
            </a:pPr>
            <a:r>
              <a:t>Use disposable barriers where appropriate.</a:t>
            </a:r>
          </a:p>
          <a:p>
            <a:pPr>
              <a:spcAft>
                <a:spcPts val="400"/>
              </a:spcAft>
              <a:defRPr sz="1250">
                <a:solidFill>
                  <a:srgbClr val="2D2D2D"/>
                </a:solidFill>
                <a:latin typeface="Aptos"/>
              </a:defRPr>
            </a:pPr>
            <a:r>
              <a:t>Report damaged surfaces that cannot be cleaned properly.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892040"/>
            <a:ext cx="10835640" cy="777240"/>
          </a:xfrm>
          <a:prstGeom prst="roundRect">
            <a:avLst/>
          </a:prstGeom>
          <a:solidFill>
            <a:srgbClr val="FCF1F5"/>
          </a:solidFill>
          <a:ln>
            <a:solidFill>
              <a:srgbClr val="EED1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5047488"/>
            <a:ext cx="1508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BE5376"/>
                </a:solidFill>
                <a:latin typeface="Aptos"/>
              </a:defRPr>
            </a:pPr>
            <a:r>
              <a:t>Clinical reminder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23160" y="5020056"/>
            <a:ext cx="8732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5C2237"/>
                </a:solidFill>
                <a:latin typeface="Aptos"/>
              </a:defRPr>
            </a:pPr>
            <a:r>
              <a:t>A surface that looks clean may still need disinfection after client contact.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C2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8229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BE5376"/>
                </a:solidFill>
                <a:latin typeface="Aptos"/>
              </a:defRPr>
            </a:pPr>
            <a:r>
              <a:t>CORE AREA 8 · WORKSPACE STANDARDS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5C2237"/>
                </a:solidFill>
                <a:latin typeface="Aptos Display"/>
              </a:defRPr>
            </a:pPr>
            <a:r>
              <a:t>Maintaining a Clean Professional Workspace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064240" y="411480"/>
            <a:ext cx="658368" cy="411480"/>
          </a:xfrm>
          <a:prstGeom prst="roundRect">
            <a:avLst/>
          </a:prstGeom>
          <a:solidFill>
            <a:srgbClr val="FCF1F5"/>
          </a:solidFill>
          <a:ln>
            <a:solidFill>
              <a:srgbClr val="BE53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64240" y="512064"/>
            <a:ext cx="65836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5C2237"/>
                </a:solidFill>
                <a:latin typeface="Aptos"/>
              </a:defRPr>
            </a:pPr>
            <a:r>
              <a:t>HP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9672"/>
            <a:ext cx="12191695" cy="45720"/>
          </a:xfrm>
          <a:prstGeom prst="rect">
            <a:avLst/>
          </a:prstGeom>
          <a:solidFill>
            <a:srgbClr val="BE53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574536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Aptos"/>
              </a:defRPr>
            </a:pPr>
            <a:r>
              <a:t>Helloperfect Aesthetic Clinic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3360" y="6574536"/>
            <a:ext cx="4206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6E6E6E"/>
                </a:solidFill>
                <a:latin typeface="Aptos"/>
              </a:defRPr>
            </a:pPr>
            <a:r>
              <a:t>Treatment Room Protocol &amp; Clinical Best Practice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657453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6E6E6E"/>
                </a:solidFill>
                <a:latin typeface="Aptos"/>
              </a:defRPr>
            </a:pPr>
            <a:r>
              <a:t>Facilitator: Chidindu Solace</a:t>
            </a:r>
          </a:p>
        </p:txBody>
      </p:sp>
      <p:sp>
        <p:nvSpPr>
          <p:cNvPr id="11" name="Oval 10"/>
          <p:cNvSpPr/>
          <p:nvPr/>
        </p:nvSpPr>
        <p:spPr>
          <a:xfrm>
            <a:off x="11658600" y="6483096"/>
            <a:ext cx="301752" cy="301752"/>
          </a:xfrm>
          <a:prstGeom prst="ellipse">
            <a:avLst/>
          </a:prstGeom>
          <a:solidFill>
            <a:srgbClr val="5C2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658600" y="6528816"/>
            <a:ext cx="301752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129844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D2D2D"/>
                </a:solidFill>
                <a:latin typeface="Aptos"/>
              </a:defRPr>
            </a:pPr>
            <a:r>
              <a:t>A clean workspace supports safety, efficiency, focus, and client trust.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1965960"/>
            <a:ext cx="5257800" cy="2651760"/>
          </a:xfrm>
          <a:prstGeom prst="roundRect">
            <a:avLst/>
          </a:prstGeom>
          <a:solidFill>
            <a:srgbClr val="FFFFFF"/>
          </a:solidFill>
          <a:ln>
            <a:solidFill>
              <a:srgbClr val="EB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1965960"/>
            <a:ext cx="82296" cy="2651760"/>
          </a:xfrm>
          <a:prstGeom prst="rect">
            <a:avLst/>
          </a:prstGeom>
          <a:solidFill>
            <a:srgbClr val="BE53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2130552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1">
                <a:solidFill>
                  <a:srgbClr val="5C2237"/>
                </a:solidFill>
                <a:latin typeface="Aptos"/>
              </a:defRPr>
            </a:pPr>
            <a:r>
              <a:t>Standard to Follow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2496312"/>
            <a:ext cx="484632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2D2D2D"/>
                </a:solidFill>
                <a:latin typeface="Aptos"/>
              </a:defRPr>
            </a:pPr>
            <a:r>
              <a:t>Only treatment-related items should be in the room during procedures.</a:t>
            </a:r>
          </a:p>
          <a:p>
            <a:pPr>
              <a:spcAft>
                <a:spcPts val="400"/>
              </a:spcAft>
              <a:defRPr sz="1250">
                <a:solidFill>
                  <a:srgbClr val="2D2D2D"/>
                </a:solidFill>
                <a:latin typeface="Aptos"/>
              </a:defRPr>
            </a:pPr>
            <a:r>
              <a:t>Products are labelled, closed, and returned after use.</a:t>
            </a:r>
          </a:p>
          <a:p>
            <a:pPr>
              <a:spcAft>
                <a:spcPts val="400"/>
              </a:spcAft>
              <a:defRPr sz="1250">
                <a:solidFill>
                  <a:srgbClr val="2D2D2D"/>
                </a:solidFill>
                <a:latin typeface="Aptos"/>
              </a:defRPr>
            </a:pPr>
            <a:r>
              <a:t>Work surfaces remain clear enough for safe movement and clean technique.</a:t>
            </a:r>
          </a:p>
          <a:p>
            <a:pPr>
              <a:spcAft>
                <a:spcPts val="400"/>
              </a:spcAft>
              <a:defRPr sz="1250">
                <a:solidFill>
                  <a:srgbClr val="2D2D2D"/>
                </a:solidFill>
                <a:latin typeface="Aptos"/>
              </a:defRPr>
            </a:pPr>
            <a:r>
              <a:t>The room should look calm, organized, and ready for clinical care.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1965960"/>
            <a:ext cx="5257800" cy="2651760"/>
          </a:xfrm>
          <a:prstGeom prst="roundRect">
            <a:avLst/>
          </a:prstGeom>
          <a:solidFill>
            <a:srgbClr val="FFFFFF"/>
          </a:solidFill>
          <a:ln>
            <a:solidFill>
              <a:srgbClr val="EB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63640" y="1965960"/>
            <a:ext cx="82296" cy="2651760"/>
          </a:xfrm>
          <a:prstGeom prst="rect">
            <a:avLst/>
          </a:prstGeom>
          <a:solidFill>
            <a:srgbClr val="D6AB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2130552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1">
                <a:solidFill>
                  <a:srgbClr val="5C2237"/>
                </a:solidFill>
                <a:latin typeface="Aptos"/>
              </a:defRPr>
            </a:pPr>
            <a:r>
              <a:t>What Staff Should Do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2496312"/>
            <a:ext cx="484632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2D2D2D"/>
                </a:solidFill>
                <a:latin typeface="Aptos"/>
              </a:defRPr>
            </a:pPr>
            <a:r>
              <a:t>Remove packaging, used cotton, gloves, and disposables promptly.</a:t>
            </a:r>
          </a:p>
          <a:p>
            <a:pPr>
              <a:spcAft>
                <a:spcPts val="400"/>
              </a:spcAft>
              <a:defRPr sz="1250">
                <a:solidFill>
                  <a:srgbClr val="2D2D2D"/>
                </a:solidFill>
                <a:latin typeface="Aptos"/>
              </a:defRPr>
            </a:pPr>
            <a:r>
              <a:t>Do not keep phones, bags, food, or unrelated paperwork in treatment zones.</a:t>
            </a:r>
          </a:p>
          <a:p>
            <a:pPr>
              <a:spcAft>
                <a:spcPts val="400"/>
              </a:spcAft>
              <a:defRPr sz="1250">
                <a:solidFill>
                  <a:srgbClr val="2D2D2D"/>
                </a:solidFill>
                <a:latin typeface="Aptos"/>
              </a:defRPr>
            </a:pPr>
            <a:r>
              <a:t>Restock neatly instead of overloading trays.</a:t>
            </a:r>
          </a:p>
          <a:p>
            <a:pPr>
              <a:spcAft>
                <a:spcPts val="400"/>
              </a:spcAft>
              <a:defRPr sz="1250">
                <a:solidFill>
                  <a:srgbClr val="2D2D2D"/>
                </a:solidFill>
                <a:latin typeface="Aptos"/>
              </a:defRPr>
            </a:pPr>
            <a:r>
              <a:t>Check room appearance from the client’s point of view.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892040"/>
            <a:ext cx="10835640" cy="777240"/>
          </a:xfrm>
          <a:prstGeom prst="roundRect">
            <a:avLst/>
          </a:prstGeom>
          <a:solidFill>
            <a:srgbClr val="FCF1F5"/>
          </a:solidFill>
          <a:ln>
            <a:solidFill>
              <a:srgbClr val="EED1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5047488"/>
            <a:ext cx="1508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BE5376"/>
                </a:solidFill>
                <a:latin typeface="Aptos"/>
              </a:defRPr>
            </a:pPr>
            <a:r>
              <a:t>Clinical reminder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23160" y="5020056"/>
            <a:ext cx="8732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5C2237"/>
                </a:solidFill>
                <a:latin typeface="Aptos"/>
              </a:defRPr>
            </a:pPr>
            <a:r>
              <a:t>Professional space management is part of client experience.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C2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8229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BE5376"/>
                </a:solidFill>
                <a:latin typeface="Aptos"/>
              </a:defRPr>
            </a:pPr>
            <a:r>
              <a:t>CORE AREA 9 · CLIENT SAFETY &amp; CARE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5C2237"/>
                </a:solidFill>
                <a:latin typeface="Aptos Display"/>
              </a:defRPr>
            </a:pPr>
            <a:r>
              <a:t>Client Safety Protocols During Treatment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064240" y="411480"/>
            <a:ext cx="658368" cy="411480"/>
          </a:xfrm>
          <a:prstGeom prst="roundRect">
            <a:avLst/>
          </a:prstGeom>
          <a:solidFill>
            <a:srgbClr val="FCF1F5"/>
          </a:solidFill>
          <a:ln>
            <a:solidFill>
              <a:srgbClr val="BE53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64240" y="512064"/>
            <a:ext cx="65836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5C2237"/>
                </a:solidFill>
                <a:latin typeface="Aptos"/>
              </a:defRPr>
            </a:pPr>
            <a:r>
              <a:t>HP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9672"/>
            <a:ext cx="12191695" cy="45720"/>
          </a:xfrm>
          <a:prstGeom prst="rect">
            <a:avLst/>
          </a:prstGeom>
          <a:solidFill>
            <a:srgbClr val="BE53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574536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Aptos"/>
              </a:defRPr>
            </a:pPr>
            <a:r>
              <a:t>Helloperfect Aesthetic Clinic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3360" y="6574536"/>
            <a:ext cx="4206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6E6E6E"/>
                </a:solidFill>
                <a:latin typeface="Aptos"/>
              </a:defRPr>
            </a:pPr>
            <a:r>
              <a:t>Treatment Room Protocol &amp; Clinical Best Practice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657453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6E6E6E"/>
                </a:solidFill>
                <a:latin typeface="Aptos"/>
              </a:defRPr>
            </a:pPr>
            <a:r>
              <a:t>Facilitator: Chidindu Solace</a:t>
            </a:r>
          </a:p>
        </p:txBody>
      </p:sp>
      <p:sp>
        <p:nvSpPr>
          <p:cNvPr id="11" name="Oval 10"/>
          <p:cNvSpPr/>
          <p:nvPr/>
        </p:nvSpPr>
        <p:spPr>
          <a:xfrm>
            <a:off x="11658600" y="6483096"/>
            <a:ext cx="301752" cy="301752"/>
          </a:xfrm>
          <a:prstGeom prst="ellipse">
            <a:avLst/>
          </a:prstGeom>
          <a:solidFill>
            <a:srgbClr val="5C2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658600" y="6528816"/>
            <a:ext cx="301752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129844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D2D2D"/>
                </a:solidFill>
                <a:latin typeface="Aptos"/>
              </a:defRPr>
            </a:pPr>
            <a:r>
              <a:t>Client safety requires active monitoring, correct technique, and readiness to stop when something is not right.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1965960"/>
            <a:ext cx="5257800" cy="2651760"/>
          </a:xfrm>
          <a:prstGeom prst="roundRect">
            <a:avLst/>
          </a:prstGeom>
          <a:solidFill>
            <a:srgbClr val="FFFFFF"/>
          </a:solidFill>
          <a:ln>
            <a:solidFill>
              <a:srgbClr val="EB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1965960"/>
            <a:ext cx="82296" cy="2651760"/>
          </a:xfrm>
          <a:prstGeom prst="rect">
            <a:avLst/>
          </a:prstGeom>
          <a:solidFill>
            <a:srgbClr val="BE53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2130552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1">
                <a:solidFill>
                  <a:srgbClr val="5C2237"/>
                </a:solidFill>
                <a:latin typeface="Aptos"/>
              </a:defRPr>
            </a:pPr>
            <a:r>
              <a:t>Standard to Follow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2496312"/>
            <a:ext cx="484632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2D2D2D"/>
                </a:solidFill>
                <a:latin typeface="Aptos"/>
              </a:defRPr>
            </a:pPr>
            <a:r>
              <a:t>Confirm treatment area and procedure before starting.</a:t>
            </a:r>
          </a:p>
          <a:p>
            <a:pPr>
              <a:spcAft>
                <a:spcPts val="400"/>
              </a:spcAft>
              <a:defRPr sz="1250">
                <a:solidFill>
                  <a:srgbClr val="2D2D2D"/>
                </a:solidFill>
                <a:latin typeface="Aptos"/>
              </a:defRPr>
            </a:pPr>
            <a:r>
              <a:t>Position the client safely and comfortably.</a:t>
            </a:r>
          </a:p>
          <a:p>
            <a:pPr>
              <a:spcAft>
                <a:spcPts val="400"/>
              </a:spcAft>
              <a:defRPr sz="1250">
                <a:solidFill>
                  <a:srgbClr val="2D2D2D"/>
                </a:solidFill>
                <a:latin typeface="Aptos"/>
              </a:defRPr>
            </a:pPr>
            <a:r>
              <a:t>Monitor pain, dizziness, bleeding, skin reaction, anxiety, and unusual complaints.</a:t>
            </a:r>
          </a:p>
          <a:p>
            <a:pPr>
              <a:spcAft>
                <a:spcPts val="400"/>
              </a:spcAft>
              <a:defRPr sz="1250">
                <a:solidFill>
                  <a:srgbClr val="2D2D2D"/>
                </a:solidFill>
                <a:latin typeface="Aptos"/>
              </a:defRPr>
            </a:pPr>
            <a:r>
              <a:t>Know when to pause, stop, call for help, or escalate.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1965960"/>
            <a:ext cx="5257800" cy="2651760"/>
          </a:xfrm>
          <a:prstGeom prst="roundRect">
            <a:avLst/>
          </a:prstGeom>
          <a:solidFill>
            <a:srgbClr val="FFFFFF"/>
          </a:solidFill>
          <a:ln>
            <a:solidFill>
              <a:srgbClr val="EB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63640" y="1965960"/>
            <a:ext cx="82296" cy="2651760"/>
          </a:xfrm>
          <a:prstGeom prst="rect">
            <a:avLst/>
          </a:prstGeom>
          <a:solidFill>
            <a:srgbClr val="D6AB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2130552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1">
                <a:solidFill>
                  <a:srgbClr val="5C2237"/>
                </a:solidFill>
                <a:latin typeface="Aptos"/>
              </a:defRPr>
            </a:pPr>
            <a:r>
              <a:t>What Staff Should Do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2496312"/>
            <a:ext cx="484632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2D2D2D"/>
                </a:solidFill>
                <a:latin typeface="Aptos"/>
              </a:defRPr>
            </a:pPr>
            <a:r>
              <a:t>Keep emergency contacts and response process accessible.</a:t>
            </a:r>
          </a:p>
          <a:p>
            <a:pPr>
              <a:spcAft>
                <a:spcPts val="400"/>
              </a:spcAft>
              <a:defRPr sz="1250">
                <a:solidFill>
                  <a:srgbClr val="2D2D2D"/>
                </a:solidFill>
                <a:latin typeface="Aptos"/>
              </a:defRPr>
            </a:pPr>
            <a:r>
              <a:t>Use products only as instructed and within scope.</a:t>
            </a:r>
          </a:p>
          <a:p>
            <a:pPr>
              <a:spcAft>
                <a:spcPts val="400"/>
              </a:spcAft>
              <a:defRPr sz="1250">
                <a:solidFill>
                  <a:srgbClr val="2D2D2D"/>
                </a:solidFill>
                <a:latin typeface="Aptos"/>
              </a:defRPr>
            </a:pPr>
            <a:r>
              <a:t>Do not leave the client unattended during active treatment.</a:t>
            </a:r>
          </a:p>
          <a:p>
            <a:pPr>
              <a:spcAft>
                <a:spcPts val="400"/>
              </a:spcAft>
              <a:defRPr sz="1250">
                <a:solidFill>
                  <a:srgbClr val="2D2D2D"/>
                </a:solidFill>
                <a:latin typeface="Aptos"/>
              </a:defRPr>
            </a:pPr>
            <a:r>
              <a:t>Give clear aftercare and warning signs before discharge.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892040"/>
            <a:ext cx="10835640" cy="777240"/>
          </a:xfrm>
          <a:prstGeom prst="roundRect">
            <a:avLst/>
          </a:prstGeom>
          <a:solidFill>
            <a:srgbClr val="FCF1F5"/>
          </a:solidFill>
          <a:ln>
            <a:solidFill>
              <a:srgbClr val="EED1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5047488"/>
            <a:ext cx="1508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BE5376"/>
                </a:solidFill>
                <a:latin typeface="Aptos"/>
              </a:defRPr>
            </a:pPr>
            <a:r>
              <a:t>Clinical reminder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23160" y="5020056"/>
            <a:ext cx="8732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5C2237"/>
                </a:solidFill>
                <a:latin typeface="Aptos"/>
              </a:defRPr>
            </a:pPr>
            <a:r>
              <a:t>Safety is not passive; staff must observe, ask, and respond throughout treatment.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C2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8229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BE5376"/>
                </a:solidFill>
                <a:latin typeface="Aptos"/>
              </a:defRPr>
            </a:pPr>
            <a:r>
              <a:t>CORE AREA 10 · CLIENT SAFETY &amp; CARE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5C2237"/>
                </a:solidFill>
                <a:latin typeface="Aptos Display"/>
              </a:defRPr>
            </a:pPr>
            <a:r>
              <a:t>Professional Conduct During Procedures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064240" y="411480"/>
            <a:ext cx="658368" cy="411480"/>
          </a:xfrm>
          <a:prstGeom prst="roundRect">
            <a:avLst/>
          </a:prstGeom>
          <a:solidFill>
            <a:srgbClr val="FCF1F5"/>
          </a:solidFill>
          <a:ln>
            <a:solidFill>
              <a:srgbClr val="BE53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64240" y="512064"/>
            <a:ext cx="65836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5C2237"/>
                </a:solidFill>
                <a:latin typeface="Aptos"/>
              </a:defRPr>
            </a:pPr>
            <a:r>
              <a:t>HP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9672"/>
            <a:ext cx="12191695" cy="45720"/>
          </a:xfrm>
          <a:prstGeom prst="rect">
            <a:avLst/>
          </a:prstGeom>
          <a:solidFill>
            <a:srgbClr val="BE53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574536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Aptos"/>
              </a:defRPr>
            </a:pPr>
            <a:r>
              <a:t>Helloperfect Aesthetic Clinic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3360" y="6574536"/>
            <a:ext cx="4206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6E6E6E"/>
                </a:solidFill>
                <a:latin typeface="Aptos"/>
              </a:defRPr>
            </a:pPr>
            <a:r>
              <a:t>Treatment Room Protocol &amp; Clinical Best Practice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657453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6E6E6E"/>
                </a:solidFill>
                <a:latin typeface="Aptos"/>
              </a:defRPr>
            </a:pPr>
            <a:r>
              <a:t>Facilitator: Chidindu Solace</a:t>
            </a:r>
          </a:p>
        </p:txBody>
      </p:sp>
      <p:sp>
        <p:nvSpPr>
          <p:cNvPr id="11" name="Oval 10"/>
          <p:cNvSpPr/>
          <p:nvPr/>
        </p:nvSpPr>
        <p:spPr>
          <a:xfrm>
            <a:off x="11658600" y="6483096"/>
            <a:ext cx="301752" cy="301752"/>
          </a:xfrm>
          <a:prstGeom prst="ellipse">
            <a:avLst/>
          </a:prstGeom>
          <a:solidFill>
            <a:srgbClr val="5C2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658600" y="6528816"/>
            <a:ext cx="301752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129844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D2D2D"/>
                </a:solidFill>
                <a:latin typeface="Aptos"/>
              </a:defRPr>
            </a:pPr>
            <a:r>
              <a:t>Professional conduct means protecting client dignity while performing the procedure with focus and respect.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1965960"/>
            <a:ext cx="5257800" cy="2651760"/>
          </a:xfrm>
          <a:prstGeom prst="roundRect">
            <a:avLst/>
          </a:prstGeom>
          <a:solidFill>
            <a:srgbClr val="FFFFFF"/>
          </a:solidFill>
          <a:ln>
            <a:solidFill>
              <a:srgbClr val="EB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1965960"/>
            <a:ext cx="82296" cy="2651760"/>
          </a:xfrm>
          <a:prstGeom prst="rect">
            <a:avLst/>
          </a:prstGeom>
          <a:solidFill>
            <a:srgbClr val="BE53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2130552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1">
                <a:solidFill>
                  <a:srgbClr val="5C2237"/>
                </a:solidFill>
                <a:latin typeface="Aptos"/>
              </a:defRPr>
            </a:pPr>
            <a:r>
              <a:t>Standard to Follow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2496312"/>
            <a:ext cx="484632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2D2D2D"/>
                </a:solidFill>
                <a:latin typeface="Aptos"/>
              </a:defRPr>
            </a:pPr>
            <a:r>
              <a:t>Maintain privacy, modesty, and confidentiality.</a:t>
            </a:r>
          </a:p>
          <a:p>
            <a:pPr>
              <a:spcAft>
                <a:spcPts val="400"/>
              </a:spcAft>
              <a:defRPr sz="1250">
                <a:solidFill>
                  <a:srgbClr val="2D2D2D"/>
                </a:solidFill>
                <a:latin typeface="Aptos"/>
              </a:defRPr>
            </a:pPr>
            <a:r>
              <a:t>Use respectful language and avoid jokes about the client’s body or concerns.</a:t>
            </a:r>
          </a:p>
          <a:p>
            <a:pPr>
              <a:spcAft>
                <a:spcPts val="400"/>
              </a:spcAft>
              <a:defRPr sz="1250">
                <a:solidFill>
                  <a:srgbClr val="2D2D2D"/>
                </a:solidFill>
                <a:latin typeface="Aptos"/>
              </a:defRPr>
            </a:pPr>
            <a:r>
              <a:t>Stay attentive and avoid personal calls, gossip, or distractions.</a:t>
            </a:r>
          </a:p>
          <a:p>
            <a:pPr>
              <a:spcAft>
                <a:spcPts val="400"/>
              </a:spcAft>
              <a:defRPr sz="1250">
                <a:solidFill>
                  <a:srgbClr val="2D2D2D"/>
                </a:solidFill>
                <a:latin typeface="Aptos"/>
              </a:defRPr>
            </a:pPr>
            <a:r>
              <a:t>Work within role, training, and clinic protocol.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1965960"/>
            <a:ext cx="5257800" cy="2651760"/>
          </a:xfrm>
          <a:prstGeom prst="roundRect">
            <a:avLst/>
          </a:prstGeom>
          <a:solidFill>
            <a:srgbClr val="FFFFFF"/>
          </a:solidFill>
          <a:ln>
            <a:solidFill>
              <a:srgbClr val="EB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63640" y="1965960"/>
            <a:ext cx="82296" cy="2651760"/>
          </a:xfrm>
          <a:prstGeom prst="rect">
            <a:avLst/>
          </a:prstGeom>
          <a:solidFill>
            <a:srgbClr val="D6AB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2130552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1">
                <a:solidFill>
                  <a:srgbClr val="5C2237"/>
                </a:solidFill>
                <a:latin typeface="Aptos"/>
              </a:defRPr>
            </a:pPr>
            <a:r>
              <a:t>What Staff Should Do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2496312"/>
            <a:ext cx="484632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2D2D2D"/>
                </a:solidFill>
                <a:latin typeface="Aptos"/>
              </a:defRPr>
            </a:pPr>
            <a:r>
              <a:t>Explain before touching or adjusting the client.</a:t>
            </a:r>
          </a:p>
          <a:p>
            <a:pPr>
              <a:spcAft>
                <a:spcPts val="400"/>
              </a:spcAft>
              <a:defRPr sz="1250">
                <a:solidFill>
                  <a:srgbClr val="2D2D2D"/>
                </a:solidFill>
                <a:latin typeface="Aptos"/>
              </a:defRPr>
            </a:pPr>
            <a:r>
              <a:t>Keep conversations appropriate and reassuring.</a:t>
            </a:r>
          </a:p>
          <a:p>
            <a:pPr>
              <a:spcAft>
                <a:spcPts val="400"/>
              </a:spcAft>
              <a:defRPr sz="1250">
                <a:solidFill>
                  <a:srgbClr val="2D2D2D"/>
                </a:solidFill>
                <a:latin typeface="Aptos"/>
              </a:defRPr>
            </a:pPr>
            <a:r>
              <a:t>Ask permission before exposing treatment areas.</a:t>
            </a:r>
          </a:p>
          <a:p>
            <a:pPr>
              <a:spcAft>
                <a:spcPts val="400"/>
              </a:spcAft>
              <a:defRPr sz="1250">
                <a:solidFill>
                  <a:srgbClr val="2D2D2D"/>
                </a:solidFill>
                <a:latin typeface="Aptos"/>
              </a:defRPr>
            </a:pPr>
            <a:r>
              <a:t>Refer questions outside your authority to the right professional.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892040"/>
            <a:ext cx="10835640" cy="777240"/>
          </a:xfrm>
          <a:prstGeom prst="roundRect">
            <a:avLst/>
          </a:prstGeom>
          <a:solidFill>
            <a:srgbClr val="FCF1F5"/>
          </a:solidFill>
          <a:ln>
            <a:solidFill>
              <a:srgbClr val="EED1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5047488"/>
            <a:ext cx="1508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BE5376"/>
                </a:solidFill>
                <a:latin typeface="Aptos"/>
              </a:defRPr>
            </a:pPr>
            <a:r>
              <a:t>Clinical reminder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23160" y="5020056"/>
            <a:ext cx="8732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5C2237"/>
                </a:solidFill>
                <a:latin typeface="Aptos"/>
              </a:defRPr>
            </a:pPr>
            <a:r>
              <a:t>Clients remember how safe, respected, and understood they felt.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C2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8229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BE5376"/>
                </a:solidFill>
                <a:latin typeface="Aptos"/>
              </a:defRPr>
            </a:pPr>
            <a:r>
              <a:t>CORE AREA 11 · CLIENT COMMUNICATION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5C2237"/>
                </a:solidFill>
                <a:latin typeface="Aptos Display"/>
              </a:defRPr>
            </a:pPr>
            <a:r>
              <a:t>Communicating with Clients Through Procedures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064240" y="411480"/>
            <a:ext cx="658368" cy="411480"/>
          </a:xfrm>
          <a:prstGeom prst="roundRect">
            <a:avLst/>
          </a:prstGeom>
          <a:solidFill>
            <a:srgbClr val="FCF1F5"/>
          </a:solidFill>
          <a:ln>
            <a:solidFill>
              <a:srgbClr val="BE53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64240" y="512064"/>
            <a:ext cx="65836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5C2237"/>
                </a:solidFill>
                <a:latin typeface="Aptos"/>
              </a:defRPr>
            </a:pPr>
            <a:r>
              <a:t>HP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9672"/>
            <a:ext cx="12191695" cy="45720"/>
          </a:xfrm>
          <a:prstGeom prst="rect">
            <a:avLst/>
          </a:prstGeom>
          <a:solidFill>
            <a:srgbClr val="BE53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574536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Aptos"/>
              </a:defRPr>
            </a:pPr>
            <a:r>
              <a:t>Helloperfect Aesthetic Clinic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3360" y="6574536"/>
            <a:ext cx="4206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6E6E6E"/>
                </a:solidFill>
                <a:latin typeface="Aptos"/>
              </a:defRPr>
            </a:pPr>
            <a:r>
              <a:t>Treatment Room Protocol &amp; Clinical Best Practice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657453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6E6E6E"/>
                </a:solidFill>
                <a:latin typeface="Aptos"/>
              </a:defRPr>
            </a:pPr>
            <a:r>
              <a:t>Facilitator: Chidindu Solace</a:t>
            </a:r>
          </a:p>
        </p:txBody>
      </p:sp>
      <p:sp>
        <p:nvSpPr>
          <p:cNvPr id="11" name="Oval 10"/>
          <p:cNvSpPr/>
          <p:nvPr/>
        </p:nvSpPr>
        <p:spPr>
          <a:xfrm>
            <a:off x="11658600" y="6483096"/>
            <a:ext cx="301752" cy="301752"/>
          </a:xfrm>
          <a:prstGeom prst="ellipse">
            <a:avLst/>
          </a:prstGeom>
          <a:solidFill>
            <a:srgbClr val="5C2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658600" y="6528816"/>
            <a:ext cx="301752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Aptos"/>
              </a:defRPr>
            </a:pPr>
            <a:r>
              <a:t>16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129844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D2D2D"/>
                </a:solidFill>
                <a:latin typeface="Aptos"/>
              </a:defRPr>
            </a:pPr>
            <a:r>
              <a:t>Clear communication reduces fear, prevents misunderstanding, and improves cooperation.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1965960"/>
            <a:ext cx="5257800" cy="2651760"/>
          </a:xfrm>
          <a:prstGeom prst="roundRect">
            <a:avLst/>
          </a:prstGeom>
          <a:solidFill>
            <a:srgbClr val="FFFFFF"/>
          </a:solidFill>
          <a:ln>
            <a:solidFill>
              <a:srgbClr val="EB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1965960"/>
            <a:ext cx="82296" cy="2651760"/>
          </a:xfrm>
          <a:prstGeom prst="rect">
            <a:avLst/>
          </a:prstGeom>
          <a:solidFill>
            <a:srgbClr val="BE53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2130552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1">
                <a:solidFill>
                  <a:srgbClr val="5C2237"/>
                </a:solidFill>
                <a:latin typeface="Aptos"/>
              </a:defRPr>
            </a:pPr>
            <a:r>
              <a:t>Standard to Follow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2496312"/>
            <a:ext cx="484632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2D2D2D"/>
                </a:solidFill>
                <a:latin typeface="Aptos"/>
              </a:defRPr>
            </a:pPr>
            <a:r>
              <a:t>Explain what is about to happen before starting each key step.</a:t>
            </a:r>
          </a:p>
          <a:p>
            <a:pPr>
              <a:spcAft>
                <a:spcPts val="400"/>
              </a:spcAft>
              <a:defRPr sz="1250">
                <a:solidFill>
                  <a:srgbClr val="2D2D2D"/>
                </a:solidFill>
                <a:latin typeface="Aptos"/>
              </a:defRPr>
            </a:pPr>
            <a:r>
              <a:t>Use simple, calm, professional language.</a:t>
            </a:r>
          </a:p>
          <a:p>
            <a:pPr>
              <a:spcAft>
                <a:spcPts val="400"/>
              </a:spcAft>
              <a:defRPr sz="1250">
                <a:solidFill>
                  <a:srgbClr val="2D2D2D"/>
                </a:solidFill>
                <a:latin typeface="Aptos"/>
              </a:defRPr>
            </a:pPr>
            <a:r>
              <a:t>Check client comfort regularly.</a:t>
            </a:r>
          </a:p>
          <a:p>
            <a:pPr>
              <a:spcAft>
                <a:spcPts val="400"/>
              </a:spcAft>
              <a:defRPr sz="1250">
                <a:solidFill>
                  <a:srgbClr val="2D2D2D"/>
                </a:solidFill>
                <a:latin typeface="Aptos"/>
              </a:defRPr>
            </a:pPr>
            <a:r>
              <a:t>Confirm that the client understands aftercare and next steps.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1965960"/>
            <a:ext cx="5257800" cy="2651760"/>
          </a:xfrm>
          <a:prstGeom prst="roundRect">
            <a:avLst/>
          </a:prstGeom>
          <a:solidFill>
            <a:srgbClr val="FFFFFF"/>
          </a:solidFill>
          <a:ln>
            <a:solidFill>
              <a:srgbClr val="EB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63640" y="1965960"/>
            <a:ext cx="82296" cy="2651760"/>
          </a:xfrm>
          <a:prstGeom prst="rect">
            <a:avLst/>
          </a:prstGeom>
          <a:solidFill>
            <a:srgbClr val="D6AB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2130552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1">
                <a:solidFill>
                  <a:srgbClr val="5C2237"/>
                </a:solidFill>
                <a:latin typeface="Aptos"/>
              </a:defRPr>
            </a:pPr>
            <a:r>
              <a:t>What Staff Should Do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2496312"/>
            <a:ext cx="484632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2D2D2D"/>
                </a:solidFill>
                <a:latin typeface="Aptos"/>
              </a:defRPr>
            </a:pPr>
            <a:r>
              <a:t>Tell the client what they may feel: pressure, warmth, tingling, mild discomfort, or cooling.</a:t>
            </a:r>
          </a:p>
          <a:p>
            <a:pPr>
              <a:spcAft>
                <a:spcPts val="400"/>
              </a:spcAft>
              <a:defRPr sz="1250">
                <a:solidFill>
                  <a:srgbClr val="2D2D2D"/>
                </a:solidFill>
                <a:latin typeface="Aptos"/>
              </a:defRPr>
            </a:pPr>
            <a:r>
              <a:t>Avoid overpromising results or minimizing concerns.</a:t>
            </a:r>
          </a:p>
          <a:p>
            <a:pPr>
              <a:spcAft>
                <a:spcPts val="400"/>
              </a:spcAft>
              <a:defRPr sz="1250">
                <a:solidFill>
                  <a:srgbClr val="2D2D2D"/>
                </a:solidFill>
                <a:latin typeface="Aptos"/>
              </a:defRPr>
            </a:pPr>
            <a:r>
              <a:t>Invite questions without rushing the client.</a:t>
            </a:r>
          </a:p>
          <a:p>
            <a:pPr>
              <a:spcAft>
                <a:spcPts val="400"/>
              </a:spcAft>
              <a:defRPr sz="1250">
                <a:solidFill>
                  <a:srgbClr val="2D2D2D"/>
                </a:solidFill>
                <a:latin typeface="Aptos"/>
              </a:defRPr>
            </a:pPr>
            <a:r>
              <a:t>Use the client’s name and maintain a calm tone.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892040"/>
            <a:ext cx="10835640" cy="777240"/>
          </a:xfrm>
          <a:prstGeom prst="roundRect">
            <a:avLst/>
          </a:prstGeom>
          <a:solidFill>
            <a:srgbClr val="FCF1F5"/>
          </a:solidFill>
          <a:ln>
            <a:solidFill>
              <a:srgbClr val="EED1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5047488"/>
            <a:ext cx="1508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BE5376"/>
                </a:solidFill>
                <a:latin typeface="Aptos"/>
              </a:defRPr>
            </a:pPr>
            <a:r>
              <a:t>Clinical reminder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23160" y="5020056"/>
            <a:ext cx="8732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5C2237"/>
                </a:solidFill>
                <a:latin typeface="Aptos"/>
              </a:defRPr>
            </a:pPr>
            <a:r>
              <a:t>Good communication is part of treatment, not an interruption to treatment.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C2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8229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BE5376"/>
                </a:solidFill>
                <a:latin typeface="Aptos"/>
              </a:defRPr>
            </a:pPr>
            <a:r>
              <a:t>CORE AREA 12 · CLIENT COMMUNICATION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5C2237"/>
                </a:solidFill>
                <a:latin typeface="Aptos Display"/>
              </a:defRPr>
            </a:pPr>
            <a:r>
              <a:t>Explaining Each Step While Performing 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064240" y="411480"/>
            <a:ext cx="658368" cy="411480"/>
          </a:xfrm>
          <a:prstGeom prst="roundRect">
            <a:avLst/>
          </a:prstGeom>
          <a:solidFill>
            <a:srgbClr val="FCF1F5"/>
          </a:solidFill>
          <a:ln>
            <a:solidFill>
              <a:srgbClr val="BE53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64240" y="512064"/>
            <a:ext cx="65836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5C2237"/>
                </a:solidFill>
                <a:latin typeface="Aptos"/>
              </a:defRPr>
            </a:pPr>
            <a:r>
              <a:t>HP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9672"/>
            <a:ext cx="12191695" cy="45720"/>
          </a:xfrm>
          <a:prstGeom prst="rect">
            <a:avLst/>
          </a:prstGeom>
          <a:solidFill>
            <a:srgbClr val="BE53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574536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Aptos"/>
              </a:defRPr>
            </a:pPr>
            <a:r>
              <a:t>Helloperfect Aesthetic Clinic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3360" y="6574536"/>
            <a:ext cx="4206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6E6E6E"/>
                </a:solidFill>
                <a:latin typeface="Aptos"/>
              </a:defRPr>
            </a:pPr>
            <a:r>
              <a:t>Treatment Room Protocol &amp; Clinical Best Practice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657453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6E6E6E"/>
                </a:solidFill>
                <a:latin typeface="Aptos"/>
              </a:defRPr>
            </a:pPr>
            <a:r>
              <a:t>Facilitator: Chidindu Solace</a:t>
            </a:r>
          </a:p>
        </p:txBody>
      </p:sp>
      <p:sp>
        <p:nvSpPr>
          <p:cNvPr id="11" name="Oval 10"/>
          <p:cNvSpPr/>
          <p:nvPr/>
        </p:nvSpPr>
        <p:spPr>
          <a:xfrm>
            <a:off x="11658600" y="6483096"/>
            <a:ext cx="301752" cy="301752"/>
          </a:xfrm>
          <a:prstGeom prst="ellipse">
            <a:avLst/>
          </a:prstGeom>
          <a:solidFill>
            <a:srgbClr val="5C2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658600" y="6528816"/>
            <a:ext cx="301752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Aptos"/>
              </a:defRPr>
            </a:pPr>
            <a:r>
              <a:t>17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129844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D2D2D"/>
                </a:solidFill>
                <a:latin typeface="Aptos"/>
              </a:defRPr>
            </a:pPr>
            <a:r>
              <a:t>Step-by-step explanation helps the client feel informed, respected, and less anxious.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1965960"/>
            <a:ext cx="5257800" cy="2651760"/>
          </a:xfrm>
          <a:prstGeom prst="roundRect">
            <a:avLst/>
          </a:prstGeom>
          <a:solidFill>
            <a:srgbClr val="FFFFFF"/>
          </a:solidFill>
          <a:ln>
            <a:solidFill>
              <a:srgbClr val="EB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1965960"/>
            <a:ext cx="82296" cy="2651760"/>
          </a:xfrm>
          <a:prstGeom prst="rect">
            <a:avLst/>
          </a:prstGeom>
          <a:solidFill>
            <a:srgbClr val="BE53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2130552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1">
                <a:solidFill>
                  <a:srgbClr val="5C2237"/>
                </a:solidFill>
                <a:latin typeface="Aptos"/>
              </a:defRPr>
            </a:pPr>
            <a:r>
              <a:t>Standard to Follow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2496312"/>
            <a:ext cx="484632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2D2D2D"/>
                </a:solidFill>
                <a:latin typeface="Aptos"/>
              </a:defRPr>
            </a:pPr>
            <a:r>
              <a:t>Give brief explanations during cleansing, marking, product application, device use, and aftercare.</a:t>
            </a:r>
          </a:p>
          <a:p>
            <a:pPr>
              <a:spcAft>
                <a:spcPts val="400"/>
              </a:spcAft>
              <a:defRPr sz="1250">
                <a:solidFill>
                  <a:srgbClr val="2D2D2D"/>
                </a:solidFill>
                <a:latin typeface="Aptos"/>
              </a:defRPr>
            </a:pPr>
            <a:r>
              <a:t>Explain why the step is necessary, not just what is being done.</a:t>
            </a:r>
          </a:p>
          <a:p>
            <a:pPr>
              <a:spcAft>
                <a:spcPts val="400"/>
              </a:spcAft>
              <a:defRPr sz="1250">
                <a:solidFill>
                  <a:srgbClr val="2D2D2D"/>
                </a:solidFill>
                <a:latin typeface="Aptos"/>
              </a:defRPr>
            </a:pPr>
            <a:r>
              <a:t>Describe expected sensations before they happen.</a:t>
            </a:r>
          </a:p>
          <a:p>
            <a:pPr>
              <a:spcAft>
                <a:spcPts val="400"/>
              </a:spcAft>
              <a:defRPr sz="1250">
                <a:solidFill>
                  <a:srgbClr val="2D2D2D"/>
                </a:solidFill>
                <a:latin typeface="Aptos"/>
              </a:defRPr>
            </a:pPr>
            <a:r>
              <a:t>Pause for questions when needed.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1965960"/>
            <a:ext cx="5257800" cy="2651760"/>
          </a:xfrm>
          <a:prstGeom prst="roundRect">
            <a:avLst/>
          </a:prstGeom>
          <a:solidFill>
            <a:srgbClr val="FFFFFF"/>
          </a:solidFill>
          <a:ln>
            <a:solidFill>
              <a:srgbClr val="EB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63640" y="1965960"/>
            <a:ext cx="82296" cy="2651760"/>
          </a:xfrm>
          <a:prstGeom prst="rect">
            <a:avLst/>
          </a:prstGeom>
          <a:solidFill>
            <a:srgbClr val="D6AB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2130552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1">
                <a:solidFill>
                  <a:srgbClr val="5C2237"/>
                </a:solidFill>
                <a:latin typeface="Aptos"/>
              </a:defRPr>
            </a:pPr>
            <a:r>
              <a:t>What Staff Should Do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2496312"/>
            <a:ext cx="484632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2D2D2D"/>
                </a:solidFill>
                <a:latin typeface="Aptos"/>
              </a:defRPr>
            </a:pPr>
            <a:r>
              <a:t>Use phrases like: “You may feel slight warmth now” or “I’m cleansing the area to reduce contamination risk.”</a:t>
            </a:r>
          </a:p>
          <a:p>
            <a:pPr>
              <a:spcAft>
                <a:spcPts val="400"/>
              </a:spcAft>
              <a:defRPr sz="1250">
                <a:solidFill>
                  <a:srgbClr val="2D2D2D"/>
                </a:solidFill>
                <a:latin typeface="Aptos"/>
              </a:defRPr>
            </a:pPr>
            <a:r>
              <a:t>Avoid long lectures during uncomfortable moments.</a:t>
            </a:r>
          </a:p>
          <a:p>
            <a:pPr>
              <a:spcAft>
                <a:spcPts val="400"/>
              </a:spcAft>
              <a:defRPr sz="1250">
                <a:solidFill>
                  <a:srgbClr val="2D2D2D"/>
                </a:solidFill>
                <a:latin typeface="Aptos"/>
              </a:defRPr>
            </a:pPr>
            <a:r>
              <a:t>Do not use complex clinical terms unless the client understands them.</a:t>
            </a:r>
          </a:p>
          <a:p>
            <a:pPr>
              <a:spcAft>
                <a:spcPts val="400"/>
              </a:spcAft>
              <a:defRPr sz="1250">
                <a:solidFill>
                  <a:srgbClr val="2D2D2D"/>
                </a:solidFill>
                <a:latin typeface="Aptos"/>
              </a:defRPr>
            </a:pPr>
            <a:r>
              <a:t>Check in after important steps before continuing.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892040"/>
            <a:ext cx="10835640" cy="777240"/>
          </a:xfrm>
          <a:prstGeom prst="roundRect">
            <a:avLst/>
          </a:prstGeom>
          <a:solidFill>
            <a:srgbClr val="FCF1F5"/>
          </a:solidFill>
          <a:ln>
            <a:solidFill>
              <a:srgbClr val="EED1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5047488"/>
            <a:ext cx="1508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BE5376"/>
                </a:solidFill>
                <a:latin typeface="Aptos"/>
              </a:defRPr>
            </a:pPr>
            <a:r>
              <a:t>Clinical reminder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23160" y="5020056"/>
            <a:ext cx="8732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5C2237"/>
                </a:solidFill>
                <a:latin typeface="Aptos"/>
              </a:defRPr>
            </a:pPr>
            <a:r>
              <a:t>A client who understands the process is usually calmer and more cooperative.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C2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8229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BE5376"/>
                </a:solidFill>
                <a:latin typeface="Aptos"/>
              </a:defRPr>
            </a:pPr>
            <a:r>
              <a:t>CORE AREA 13 · CLIENT COMMUNICATION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5C2237"/>
                </a:solidFill>
                <a:latin typeface="Aptos Display"/>
              </a:defRPr>
            </a:pPr>
            <a:r>
              <a:t>Managing Client Comfort and Anxiety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064240" y="411480"/>
            <a:ext cx="658368" cy="411480"/>
          </a:xfrm>
          <a:prstGeom prst="roundRect">
            <a:avLst/>
          </a:prstGeom>
          <a:solidFill>
            <a:srgbClr val="FCF1F5"/>
          </a:solidFill>
          <a:ln>
            <a:solidFill>
              <a:srgbClr val="BE53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64240" y="512064"/>
            <a:ext cx="65836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5C2237"/>
                </a:solidFill>
                <a:latin typeface="Aptos"/>
              </a:defRPr>
            </a:pPr>
            <a:r>
              <a:t>HP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9672"/>
            <a:ext cx="12191695" cy="45720"/>
          </a:xfrm>
          <a:prstGeom prst="rect">
            <a:avLst/>
          </a:prstGeom>
          <a:solidFill>
            <a:srgbClr val="BE53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574536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Aptos"/>
              </a:defRPr>
            </a:pPr>
            <a:r>
              <a:t>Helloperfect Aesthetic Clinic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3360" y="6574536"/>
            <a:ext cx="4206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6E6E6E"/>
                </a:solidFill>
                <a:latin typeface="Aptos"/>
              </a:defRPr>
            </a:pPr>
            <a:r>
              <a:t>Treatment Room Protocol &amp; Clinical Best Practice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657453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6E6E6E"/>
                </a:solidFill>
                <a:latin typeface="Aptos"/>
              </a:defRPr>
            </a:pPr>
            <a:r>
              <a:t>Facilitator: Chidindu Solace</a:t>
            </a:r>
          </a:p>
        </p:txBody>
      </p:sp>
      <p:sp>
        <p:nvSpPr>
          <p:cNvPr id="11" name="Oval 10"/>
          <p:cNvSpPr/>
          <p:nvPr/>
        </p:nvSpPr>
        <p:spPr>
          <a:xfrm>
            <a:off x="11658600" y="6483096"/>
            <a:ext cx="301752" cy="301752"/>
          </a:xfrm>
          <a:prstGeom prst="ellipse">
            <a:avLst/>
          </a:prstGeom>
          <a:solidFill>
            <a:srgbClr val="5C2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658600" y="6528816"/>
            <a:ext cx="301752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Aptos"/>
              </a:defRPr>
            </a:pPr>
            <a:r>
              <a:t>18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129844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D2D2D"/>
                </a:solidFill>
                <a:latin typeface="Aptos"/>
              </a:defRPr>
            </a:pPr>
            <a:r>
              <a:t>Comfort management improves the treatment experience and helps staff identify concerns early.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1965960"/>
            <a:ext cx="5257800" cy="2651760"/>
          </a:xfrm>
          <a:prstGeom prst="roundRect">
            <a:avLst/>
          </a:prstGeom>
          <a:solidFill>
            <a:srgbClr val="FFFFFF"/>
          </a:solidFill>
          <a:ln>
            <a:solidFill>
              <a:srgbClr val="EB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1965960"/>
            <a:ext cx="82296" cy="2651760"/>
          </a:xfrm>
          <a:prstGeom prst="rect">
            <a:avLst/>
          </a:prstGeom>
          <a:solidFill>
            <a:srgbClr val="BE53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2130552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1">
                <a:solidFill>
                  <a:srgbClr val="5C2237"/>
                </a:solidFill>
                <a:latin typeface="Aptos"/>
              </a:defRPr>
            </a:pPr>
            <a:r>
              <a:t>Standard to Follow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2496312"/>
            <a:ext cx="484632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2D2D2D"/>
                </a:solidFill>
                <a:latin typeface="Aptos"/>
              </a:defRPr>
            </a:pPr>
            <a:r>
              <a:t>Assess anxiety level before treatment begins.</a:t>
            </a:r>
          </a:p>
          <a:p>
            <a:pPr>
              <a:spcAft>
                <a:spcPts val="400"/>
              </a:spcAft>
              <a:defRPr sz="1250">
                <a:solidFill>
                  <a:srgbClr val="2D2D2D"/>
                </a:solidFill>
                <a:latin typeface="Aptos"/>
              </a:defRPr>
            </a:pPr>
            <a:r>
              <a:t>Position the client to reduce strain and exposure.</a:t>
            </a:r>
          </a:p>
          <a:p>
            <a:pPr>
              <a:spcAft>
                <a:spcPts val="400"/>
              </a:spcAft>
              <a:defRPr sz="1250">
                <a:solidFill>
                  <a:srgbClr val="2D2D2D"/>
                </a:solidFill>
                <a:latin typeface="Aptos"/>
              </a:defRPr>
            </a:pPr>
            <a:r>
              <a:t>Offer reassurance without dismissing pain or fear.</a:t>
            </a:r>
          </a:p>
          <a:p>
            <a:pPr>
              <a:spcAft>
                <a:spcPts val="400"/>
              </a:spcAft>
              <a:defRPr sz="1250">
                <a:solidFill>
                  <a:srgbClr val="2D2D2D"/>
                </a:solidFill>
                <a:latin typeface="Aptos"/>
              </a:defRPr>
            </a:pPr>
            <a:r>
              <a:t>Monitor non-verbal signs such as gripping, sweating, flinching, or silence.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1965960"/>
            <a:ext cx="5257800" cy="2651760"/>
          </a:xfrm>
          <a:prstGeom prst="roundRect">
            <a:avLst/>
          </a:prstGeom>
          <a:solidFill>
            <a:srgbClr val="FFFFFF"/>
          </a:solidFill>
          <a:ln>
            <a:solidFill>
              <a:srgbClr val="EB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63640" y="1965960"/>
            <a:ext cx="82296" cy="2651760"/>
          </a:xfrm>
          <a:prstGeom prst="rect">
            <a:avLst/>
          </a:prstGeom>
          <a:solidFill>
            <a:srgbClr val="D6AB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2130552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1">
                <a:solidFill>
                  <a:srgbClr val="5C2237"/>
                </a:solidFill>
                <a:latin typeface="Aptos"/>
              </a:defRPr>
            </a:pPr>
            <a:r>
              <a:t>What Staff Should Do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2496312"/>
            <a:ext cx="484632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2D2D2D"/>
                </a:solidFill>
                <a:latin typeface="Aptos"/>
              </a:defRPr>
            </a:pPr>
            <a:r>
              <a:t>Ask: “Are you comfortable?” and “Would you like a brief pause?”</a:t>
            </a:r>
          </a:p>
          <a:p>
            <a:pPr>
              <a:spcAft>
                <a:spcPts val="400"/>
              </a:spcAft>
              <a:defRPr sz="1250">
                <a:solidFill>
                  <a:srgbClr val="2D2D2D"/>
                </a:solidFill>
                <a:latin typeface="Aptos"/>
              </a:defRPr>
            </a:pPr>
            <a:r>
              <a:t>Adjust room temperature, pillows, lighting, and positioning where possible.</a:t>
            </a:r>
          </a:p>
          <a:p>
            <a:pPr>
              <a:spcAft>
                <a:spcPts val="400"/>
              </a:spcAft>
              <a:defRPr sz="1250">
                <a:solidFill>
                  <a:srgbClr val="2D2D2D"/>
                </a:solidFill>
                <a:latin typeface="Aptos"/>
              </a:defRPr>
            </a:pPr>
            <a:r>
              <a:t>Explain normal sensations versus warning signs.</a:t>
            </a:r>
          </a:p>
          <a:p>
            <a:pPr>
              <a:spcAft>
                <a:spcPts val="400"/>
              </a:spcAft>
              <a:defRPr sz="1250">
                <a:solidFill>
                  <a:srgbClr val="2D2D2D"/>
                </a:solidFill>
                <a:latin typeface="Aptos"/>
              </a:defRPr>
            </a:pPr>
            <a:r>
              <a:t>Escalate if anxiety, pain, or reaction becomes concerning.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892040"/>
            <a:ext cx="10835640" cy="777240"/>
          </a:xfrm>
          <a:prstGeom prst="roundRect">
            <a:avLst/>
          </a:prstGeom>
          <a:solidFill>
            <a:srgbClr val="FCF1F5"/>
          </a:solidFill>
          <a:ln>
            <a:solidFill>
              <a:srgbClr val="EED1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5047488"/>
            <a:ext cx="1508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BE5376"/>
                </a:solidFill>
                <a:latin typeface="Aptos"/>
              </a:defRPr>
            </a:pPr>
            <a:r>
              <a:t>Clinical reminder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23160" y="5020056"/>
            <a:ext cx="8732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5C2237"/>
                </a:solidFill>
                <a:latin typeface="Aptos"/>
              </a:defRPr>
            </a:pPr>
            <a:r>
              <a:t>Reassurance works best when it is paired with careful observation.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C2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8229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BE5376"/>
                </a:solidFill>
                <a:latin typeface="Aptos"/>
              </a:defRPr>
            </a:pPr>
            <a:r>
              <a:t>CORE AREA 14 ·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5C2237"/>
                </a:solidFill>
                <a:latin typeface="Aptos Display"/>
              </a:defRPr>
            </a:pPr>
            <a:r>
              <a:t>Treatment Flow and Efficiency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064240" y="411480"/>
            <a:ext cx="658368" cy="411480"/>
          </a:xfrm>
          <a:prstGeom prst="roundRect">
            <a:avLst/>
          </a:prstGeom>
          <a:solidFill>
            <a:srgbClr val="FCF1F5"/>
          </a:solidFill>
          <a:ln>
            <a:solidFill>
              <a:srgbClr val="BE53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64240" y="512064"/>
            <a:ext cx="65836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5C2237"/>
                </a:solidFill>
                <a:latin typeface="Aptos"/>
              </a:defRPr>
            </a:pPr>
            <a:r>
              <a:t>HP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9672"/>
            <a:ext cx="12191695" cy="45720"/>
          </a:xfrm>
          <a:prstGeom prst="rect">
            <a:avLst/>
          </a:prstGeom>
          <a:solidFill>
            <a:srgbClr val="BE53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574536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Aptos"/>
              </a:defRPr>
            </a:pPr>
            <a:r>
              <a:t>Helloperfect Aesthetic Clinic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3360" y="6574536"/>
            <a:ext cx="4206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6E6E6E"/>
                </a:solidFill>
                <a:latin typeface="Aptos"/>
              </a:defRPr>
            </a:pPr>
            <a:r>
              <a:t>Treatment Room Protocol &amp; Clinical Best Practice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657453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6E6E6E"/>
                </a:solidFill>
                <a:latin typeface="Aptos"/>
              </a:defRPr>
            </a:pPr>
            <a:r>
              <a:t>Facilitator: Chidindu Solace</a:t>
            </a:r>
          </a:p>
        </p:txBody>
      </p:sp>
      <p:sp>
        <p:nvSpPr>
          <p:cNvPr id="11" name="Oval 10"/>
          <p:cNvSpPr/>
          <p:nvPr/>
        </p:nvSpPr>
        <p:spPr>
          <a:xfrm>
            <a:off x="11658600" y="6483096"/>
            <a:ext cx="301752" cy="301752"/>
          </a:xfrm>
          <a:prstGeom prst="ellipse">
            <a:avLst/>
          </a:prstGeom>
          <a:solidFill>
            <a:srgbClr val="5C2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658600" y="6528816"/>
            <a:ext cx="301752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Aptos"/>
              </a:defRPr>
            </a:pPr>
            <a:r>
              <a:t>19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129844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D2D2D"/>
                </a:solidFill>
                <a:latin typeface="Aptos"/>
              </a:defRPr>
            </a:pPr>
            <a:r>
              <a:t>Efficiency means working smoothly without rushing safety, hygiene, or documentation.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1965960"/>
            <a:ext cx="5257800" cy="2651760"/>
          </a:xfrm>
          <a:prstGeom prst="roundRect">
            <a:avLst/>
          </a:prstGeom>
          <a:solidFill>
            <a:srgbClr val="FFFFFF"/>
          </a:solidFill>
          <a:ln>
            <a:solidFill>
              <a:srgbClr val="EB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1965960"/>
            <a:ext cx="82296" cy="2651760"/>
          </a:xfrm>
          <a:prstGeom prst="rect">
            <a:avLst/>
          </a:prstGeom>
          <a:solidFill>
            <a:srgbClr val="BE53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2130552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1">
                <a:solidFill>
                  <a:srgbClr val="5C2237"/>
                </a:solidFill>
                <a:latin typeface="Aptos"/>
              </a:defRPr>
            </a:pPr>
            <a:r>
              <a:t>Standard to Follow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2496312"/>
            <a:ext cx="484632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2D2D2D"/>
                </a:solidFill>
                <a:latin typeface="Aptos"/>
              </a:defRPr>
            </a:pPr>
            <a:r>
              <a:t>Follow a consistent room-to-client-to-treatment-to-reset sequence.</a:t>
            </a:r>
          </a:p>
          <a:p>
            <a:pPr>
              <a:spcAft>
                <a:spcPts val="400"/>
              </a:spcAft>
              <a:defRPr sz="1250">
                <a:solidFill>
                  <a:srgbClr val="2D2D2D"/>
                </a:solidFill>
                <a:latin typeface="Aptos"/>
              </a:defRPr>
            </a:pPr>
            <a:r>
              <a:t>Prepare supplies before the client enters.</a:t>
            </a:r>
          </a:p>
          <a:p>
            <a:pPr>
              <a:spcAft>
                <a:spcPts val="400"/>
              </a:spcAft>
              <a:defRPr sz="1250">
                <a:solidFill>
                  <a:srgbClr val="2D2D2D"/>
                </a:solidFill>
                <a:latin typeface="Aptos"/>
              </a:defRPr>
            </a:pPr>
            <a:r>
              <a:t>Avoid unnecessary interruptions during treatment.</a:t>
            </a:r>
          </a:p>
          <a:p>
            <a:pPr>
              <a:spcAft>
                <a:spcPts val="400"/>
              </a:spcAft>
              <a:defRPr sz="1250">
                <a:solidFill>
                  <a:srgbClr val="2D2D2D"/>
                </a:solidFill>
                <a:latin typeface="Aptos"/>
              </a:defRPr>
            </a:pPr>
            <a:r>
              <a:t>Keep the procedure moving while maintaining safety checks.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1965960"/>
            <a:ext cx="5257800" cy="2651760"/>
          </a:xfrm>
          <a:prstGeom prst="roundRect">
            <a:avLst/>
          </a:prstGeom>
          <a:solidFill>
            <a:srgbClr val="FFFFFF"/>
          </a:solidFill>
          <a:ln>
            <a:solidFill>
              <a:srgbClr val="EB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63640" y="1965960"/>
            <a:ext cx="82296" cy="2651760"/>
          </a:xfrm>
          <a:prstGeom prst="rect">
            <a:avLst/>
          </a:prstGeom>
          <a:solidFill>
            <a:srgbClr val="D6AB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2130552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1">
                <a:solidFill>
                  <a:srgbClr val="5C2237"/>
                </a:solidFill>
                <a:latin typeface="Aptos"/>
              </a:defRPr>
            </a:pPr>
            <a:r>
              <a:t>What Staff Should Do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2496312"/>
            <a:ext cx="484632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2D2D2D"/>
                </a:solidFill>
                <a:latin typeface="Aptos"/>
              </a:defRPr>
            </a:pPr>
            <a:r>
              <a:t>Use checklists to reduce forgotten steps.</a:t>
            </a:r>
          </a:p>
          <a:p>
            <a:pPr>
              <a:spcAft>
                <a:spcPts val="400"/>
              </a:spcAft>
              <a:defRPr sz="1250">
                <a:solidFill>
                  <a:srgbClr val="2D2D2D"/>
                </a:solidFill>
                <a:latin typeface="Aptos"/>
              </a:defRPr>
            </a:pPr>
            <a:r>
              <a:t>Place items in the order they will be used.</a:t>
            </a:r>
          </a:p>
          <a:p>
            <a:pPr>
              <a:spcAft>
                <a:spcPts val="400"/>
              </a:spcAft>
              <a:defRPr sz="1250">
                <a:solidFill>
                  <a:srgbClr val="2D2D2D"/>
                </a:solidFill>
                <a:latin typeface="Aptos"/>
              </a:defRPr>
            </a:pPr>
            <a:r>
              <a:t>Communicate expected treatment duration to the client.</a:t>
            </a:r>
          </a:p>
          <a:p>
            <a:pPr>
              <a:spcAft>
                <a:spcPts val="400"/>
              </a:spcAft>
              <a:defRPr sz="1250">
                <a:solidFill>
                  <a:srgbClr val="2D2D2D"/>
                </a:solidFill>
                <a:latin typeface="Aptos"/>
              </a:defRPr>
            </a:pPr>
            <a:r>
              <a:t>Do not sacrifice infection control for speed.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892040"/>
            <a:ext cx="10835640" cy="777240"/>
          </a:xfrm>
          <a:prstGeom prst="roundRect">
            <a:avLst/>
          </a:prstGeom>
          <a:solidFill>
            <a:srgbClr val="FCF1F5"/>
          </a:solidFill>
          <a:ln>
            <a:solidFill>
              <a:srgbClr val="EED1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5047488"/>
            <a:ext cx="1508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BE5376"/>
                </a:solidFill>
                <a:latin typeface="Aptos"/>
              </a:defRPr>
            </a:pPr>
            <a:r>
              <a:t>Clinical reminder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23160" y="5020056"/>
            <a:ext cx="8732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5C2237"/>
                </a:solidFill>
                <a:latin typeface="Aptos"/>
              </a:defRPr>
            </a:pPr>
            <a:r>
              <a:t>Efficient treatment is organized treatment, not rushed treatment.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C2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8229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BE5376"/>
                </a:solidFill>
                <a:latin typeface="Aptos"/>
              </a:defRPr>
            </a:pPr>
            <a:r>
              <a:t>CORE AREA 15 ·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5C2237"/>
                </a:solidFill>
                <a:latin typeface="Aptos Display"/>
              </a:defRPr>
            </a:pPr>
            <a:r>
              <a:t>Closing Down and Resetting the Room After Treatment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064240" y="411480"/>
            <a:ext cx="658368" cy="411480"/>
          </a:xfrm>
          <a:prstGeom prst="roundRect">
            <a:avLst/>
          </a:prstGeom>
          <a:solidFill>
            <a:srgbClr val="FCF1F5"/>
          </a:solidFill>
          <a:ln>
            <a:solidFill>
              <a:srgbClr val="BE53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64240" y="512064"/>
            <a:ext cx="65836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5C2237"/>
                </a:solidFill>
                <a:latin typeface="Aptos"/>
              </a:defRPr>
            </a:pPr>
            <a:r>
              <a:t>HP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9672"/>
            <a:ext cx="12191695" cy="45720"/>
          </a:xfrm>
          <a:prstGeom prst="rect">
            <a:avLst/>
          </a:prstGeom>
          <a:solidFill>
            <a:srgbClr val="BE53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574536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Aptos"/>
              </a:defRPr>
            </a:pPr>
            <a:r>
              <a:t>Helloperfect Aesthetic Clinic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3360" y="6574536"/>
            <a:ext cx="4206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6E6E6E"/>
                </a:solidFill>
                <a:latin typeface="Aptos"/>
              </a:defRPr>
            </a:pPr>
            <a:r>
              <a:t>Treatment Room Protocol &amp; Clinical Best Practice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657453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6E6E6E"/>
                </a:solidFill>
                <a:latin typeface="Aptos"/>
              </a:defRPr>
            </a:pPr>
            <a:r>
              <a:t>Facilitator: Chidindu Solace</a:t>
            </a:r>
          </a:p>
        </p:txBody>
      </p:sp>
      <p:sp>
        <p:nvSpPr>
          <p:cNvPr id="11" name="Oval 10"/>
          <p:cNvSpPr/>
          <p:nvPr/>
        </p:nvSpPr>
        <p:spPr>
          <a:xfrm>
            <a:off x="11658600" y="6483096"/>
            <a:ext cx="301752" cy="301752"/>
          </a:xfrm>
          <a:prstGeom prst="ellipse">
            <a:avLst/>
          </a:prstGeom>
          <a:solidFill>
            <a:srgbClr val="5C2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658600" y="6528816"/>
            <a:ext cx="301752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Aptos"/>
              </a:defRPr>
            </a:pPr>
            <a:r>
              <a:t>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129844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D2D2D"/>
                </a:solidFill>
                <a:latin typeface="Aptos"/>
              </a:defRPr>
            </a:pPr>
            <a:r>
              <a:t>Resetting the room immediately protects the next client and keeps the clinic running smoothly.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1965960"/>
            <a:ext cx="5257800" cy="2651760"/>
          </a:xfrm>
          <a:prstGeom prst="roundRect">
            <a:avLst/>
          </a:prstGeom>
          <a:solidFill>
            <a:srgbClr val="FFFFFF"/>
          </a:solidFill>
          <a:ln>
            <a:solidFill>
              <a:srgbClr val="EB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1965960"/>
            <a:ext cx="82296" cy="2651760"/>
          </a:xfrm>
          <a:prstGeom prst="rect">
            <a:avLst/>
          </a:prstGeom>
          <a:solidFill>
            <a:srgbClr val="BE53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2130552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1">
                <a:solidFill>
                  <a:srgbClr val="5C2237"/>
                </a:solidFill>
                <a:latin typeface="Aptos"/>
              </a:defRPr>
            </a:pPr>
            <a:r>
              <a:t>Standard to Follow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2496312"/>
            <a:ext cx="484632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2D2D2D"/>
                </a:solidFill>
                <a:latin typeface="Aptos"/>
              </a:defRPr>
            </a:pPr>
            <a:r>
              <a:t>Remove used items and dispose of waste correctly.</a:t>
            </a:r>
          </a:p>
          <a:p>
            <a:pPr>
              <a:spcAft>
                <a:spcPts val="400"/>
              </a:spcAft>
              <a:defRPr sz="1250">
                <a:solidFill>
                  <a:srgbClr val="2D2D2D"/>
                </a:solidFill>
                <a:latin typeface="Aptos"/>
              </a:defRPr>
            </a:pPr>
            <a:r>
              <a:t>Clean and disinfect treatment bed, trolley, surfaces, device handles, and high-touch areas.</a:t>
            </a:r>
          </a:p>
          <a:p>
            <a:pPr>
              <a:spcAft>
                <a:spcPts val="400"/>
              </a:spcAft>
              <a:defRPr sz="1250">
                <a:solidFill>
                  <a:srgbClr val="2D2D2D"/>
                </a:solidFill>
                <a:latin typeface="Aptos"/>
              </a:defRPr>
            </a:pPr>
            <a:r>
              <a:t>Separate reusable tools for reprocessing.</a:t>
            </a:r>
          </a:p>
          <a:p>
            <a:pPr>
              <a:spcAft>
                <a:spcPts val="400"/>
              </a:spcAft>
              <a:defRPr sz="1250">
                <a:solidFill>
                  <a:srgbClr val="2D2D2D"/>
                </a:solidFill>
                <a:latin typeface="Aptos"/>
              </a:defRPr>
            </a:pPr>
            <a:r>
              <a:t>Restock supplies and prepare the room for the next appointment.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1965960"/>
            <a:ext cx="5257800" cy="2651760"/>
          </a:xfrm>
          <a:prstGeom prst="roundRect">
            <a:avLst/>
          </a:prstGeom>
          <a:solidFill>
            <a:srgbClr val="FFFFFF"/>
          </a:solidFill>
          <a:ln>
            <a:solidFill>
              <a:srgbClr val="EB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63640" y="1965960"/>
            <a:ext cx="82296" cy="2651760"/>
          </a:xfrm>
          <a:prstGeom prst="rect">
            <a:avLst/>
          </a:prstGeom>
          <a:solidFill>
            <a:srgbClr val="D6AB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2130552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1">
                <a:solidFill>
                  <a:srgbClr val="5C2237"/>
                </a:solidFill>
                <a:latin typeface="Aptos"/>
              </a:defRPr>
            </a:pPr>
            <a:r>
              <a:t>What Staff Should Do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2496312"/>
            <a:ext cx="484632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2D2D2D"/>
                </a:solidFill>
                <a:latin typeface="Aptos"/>
              </a:defRPr>
            </a:pPr>
            <a:r>
              <a:t>Never leave contaminated items for the next staff member.</a:t>
            </a:r>
          </a:p>
          <a:p>
            <a:pPr>
              <a:spcAft>
                <a:spcPts val="400"/>
              </a:spcAft>
              <a:defRPr sz="1250">
                <a:solidFill>
                  <a:srgbClr val="2D2D2D"/>
                </a:solidFill>
                <a:latin typeface="Aptos"/>
              </a:defRPr>
            </a:pPr>
            <a:r>
              <a:t>Check sharps bin and waste levels.</a:t>
            </a:r>
          </a:p>
          <a:p>
            <a:pPr>
              <a:spcAft>
                <a:spcPts val="400"/>
              </a:spcAft>
              <a:defRPr sz="1250">
                <a:solidFill>
                  <a:srgbClr val="2D2D2D"/>
                </a:solidFill>
                <a:latin typeface="Aptos"/>
              </a:defRPr>
            </a:pPr>
            <a:r>
              <a:t>Replace bed cover, towels, and disposable barriers.</a:t>
            </a:r>
          </a:p>
          <a:p>
            <a:pPr>
              <a:spcAft>
                <a:spcPts val="400"/>
              </a:spcAft>
              <a:defRPr sz="1250">
                <a:solidFill>
                  <a:srgbClr val="2D2D2D"/>
                </a:solidFill>
                <a:latin typeface="Aptos"/>
              </a:defRPr>
            </a:pPr>
            <a:r>
              <a:t>Perform a final visual check before calling the next client.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892040"/>
            <a:ext cx="10835640" cy="777240"/>
          </a:xfrm>
          <a:prstGeom prst="roundRect">
            <a:avLst/>
          </a:prstGeom>
          <a:solidFill>
            <a:srgbClr val="FCF1F5"/>
          </a:solidFill>
          <a:ln>
            <a:solidFill>
              <a:srgbClr val="EED1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5047488"/>
            <a:ext cx="1508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BE5376"/>
                </a:solidFill>
                <a:latin typeface="Aptos"/>
              </a:defRPr>
            </a:pPr>
            <a:r>
              <a:t>Clinical reminder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23160" y="5020056"/>
            <a:ext cx="8732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5C2237"/>
                </a:solidFill>
                <a:latin typeface="Aptos"/>
              </a:defRPr>
            </a:pPr>
            <a:r>
              <a:t>The next treatment begins with how well the previous treatment room was reset.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C2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8229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BE5376"/>
                </a:solidFill>
                <a:latin typeface="Aptos"/>
              </a:defRPr>
            </a:pPr>
            <a:r>
              <a:t>CORE AREA 16 · DOCUMENTATION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5C2237"/>
                </a:solidFill>
                <a:latin typeface="Aptos Display"/>
              </a:defRPr>
            </a:pPr>
            <a:r>
              <a:t>Documentation and Treatment Notes Immediately After Procedures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064240" y="411480"/>
            <a:ext cx="658368" cy="411480"/>
          </a:xfrm>
          <a:prstGeom prst="roundRect">
            <a:avLst/>
          </a:prstGeom>
          <a:solidFill>
            <a:srgbClr val="FCF1F5"/>
          </a:solidFill>
          <a:ln>
            <a:solidFill>
              <a:srgbClr val="BE53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64240" y="512064"/>
            <a:ext cx="65836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5C2237"/>
                </a:solidFill>
                <a:latin typeface="Aptos"/>
              </a:defRPr>
            </a:pPr>
            <a:r>
              <a:t>HP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9672"/>
            <a:ext cx="12191695" cy="45720"/>
          </a:xfrm>
          <a:prstGeom prst="rect">
            <a:avLst/>
          </a:prstGeom>
          <a:solidFill>
            <a:srgbClr val="BE53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574536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Aptos"/>
              </a:defRPr>
            </a:pPr>
            <a:r>
              <a:t>Helloperfect Aesthetic Clinic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3360" y="6574536"/>
            <a:ext cx="4206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6E6E6E"/>
                </a:solidFill>
                <a:latin typeface="Aptos"/>
              </a:defRPr>
            </a:pPr>
            <a:r>
              <a:t>Treatment Room Protocol &amp; Clinical Best Practice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657453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6E6E6E"/>
                </a:solidFill>
                <a:latin typeface="Aptos"/>
              </a:defRPr>
            </a:pPr>
            <a:r>
              <a:t>Facilitator: Chidindu Solace</a:t>
            </a:r>
          </a:p>
        </p:txBody>
      </p:sp>
      <p:sp>
        <p:nvSpPr>
          <p:cNvPr id="11" name="Oval 10"/>
          <p:cNvSpPr/>
          <p:nvPr/>
        </p:nvSpPr>
        <p:spPr>
          <a:xfrm>
            <a:off x="11658600" y="6483096"/>
            <a:ext cx="301752" cy="301752"/>
          </a:xfrm>
          <a:prstGeom prst="ellipse">
            <a:avLst/>
          </a:prstGeom>
          <a:solidFill>
            <a:srgbClr val="5C2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658600" y="6528816"/>
            <a:ext cx="301752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Aptos"/>
              </a:defRPr>
            </a:pPr>
            <a:r>
              <a:t>21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129844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D2D2D"/>
                </a:solidFill>
                <a:latin typeface="Aptos"/>
              </a:defRPr>
            </a:pPr>
            <a:r>
              <a:t>Accurate documentation protects the client, the staff member, and the clinic.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1965960"/>
            <a:ext cx="5257800" cy="2651760"/>
          </a:xfrm>
          <a:prstGeom prst="roundRect">
            <a:avLst/>
          </a:prstGeom>
          <a:solidFill>
            <a:srgbClr val="FFFFFF"/>
          </a:solidFill>
          <a:ln>
            <a:solidFill>
              <a:srgbClr val="EB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1965960"/>
            <a:ext cx="82296" cy="2651760"/>
          </a:xfrm>
          <a:prstGeom prst="rect">
            <a:avLst/>
          </a:prstGeom>
          <a:solidFill>
            <a:srgbClr val="BE53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2130552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1">
                <a:solidFill>
                  <a:srgbClr val="5C2237"/>
                </a:solidFill>
                <a:latin typeface="Aptos"/>
              </a:defRPr>
            </a:pPr>
            <a:r>
              <a:t>Standard to Follow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2496312"/>
            <a:ext cx="484632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2D2D2D"/>
                </a:solidFill>
                <a:latin typeface="Aptos"/>
              </a:defRPr>
            </a:pPr>
            <a:r>
              <a:t>Complete notes immediately while details are fresh.</a:t>
            </a:r>
          </a:p>
          <a:p>
            <a:pPr>
              <a:spcAft>
                <a:spcPts val="400"/>
              </a:spcAft>
              <a:defRPr sz="1250">
                <a:solidFill>
                  <a:srgbClr val="2D2D2D"/>
                </a:solidFill>
                <a:latin typeface="Aptos"/>
              </a:defRPr>
            </a:pPr>
            <a:r>
              <a:t>Record treatment performed, treatment area, products used, batch/lot numbers where required, device settings, and observations.</a:t>
            </a:r>
          </a:p>
          <a:p>
            <a:pPr>
              <a:spcAft>
                <a:spcPts val="400"/>
              </a:spcAft>
              <a:defRPr sz="1250">
                <a:solidFill>
                  <a:srgbClr val="2D2D2D"/>
                </a:solidFill>
                <a:latin typeface="Aptos"/>
              </a:defRPr>
            </a:pPr>
            <a:r>
              <a:t>Document client tolerance, reactions, advice given, and follow-up plan.</a:t>
            </a:r>
          </a:p>
          <a:p>
            <a:pPr>
              <a:spcAft>
                <a:spcPts val="400"/>
              </a:spcAft>
              <a:defRPr sz="1250">
                <a:solidFill>
                  <a:srgbClr val="2D2D2D"/>
                </a:solidFill>
                <a:latin typeface="Aptos"/>
              </a:defRPr>
            </a:pPr>
            <a:r>
              <a:t>Record incidents, concerns, or deviations from normal procedure.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1965960"/>
            <a:ext cx="5257800" cy="2651760"/>
          </a:xfrm>
          <a:prstGeom prst="roundRect">
            <a:avLst/>
          </a:prstGeom>
          <a:solidFill>
            <a:srgbClr val="FFFFFF"/>
          </a:solidFill>
          <a:ln>
            <a:solidFill>
              <a:srgbClr val="EB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63640" y="1965960"/>
            <a:ext cx="82296" cy="2651760"/>
          </a:xfrm>
          <a:prstGeom prst="rect">
            <a:avLst/>
          </a:prstGeom>
          <a:solidFill>
            <a:srgbClr val="D6AB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2130552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1">
                <a:solidFill>
                  <a:srgbClr val="5C2237"/>
                </a:solidFill>
                <a:latin typeface="Aptos"/>
              </a:defRPr>
            </a:pPr>
            <a:r>
              <a:t>What Staff Should Do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2496312"/>
            <a:ext cx="484632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2D2D2D"/>
                </a:solidFill>
                <a:latin typeface="Aptos"/>
              </a:defRPr>
            </a:pPr>
            <a:r>
              <a:t>Use clear, factual language; avoid assumptions or emotional wording.</a:t>
            </a:r>
          </a:p>
          <a:p>
            <a:pPr>
              <a:spcAft>
                <a:spcPts val="400"/>
              </a:spcAft>
              <a:defRPr sz="1250">
                <a:solidFill>
                  <a:srgbClr val="2D2D2D"/>
                </a:solidFill>
                <a:latin typeface="Aptos"/>
              </a:defRPr>
            </a:pPr>
            <a:r>
              <a:t>Do not delay notes until the end of the day.</a:t>
            </a:r>
          </a:p>
          <a:p>
            <a:pPr>
              <a:spcAft>
                <a:spcPts val="400"/>
              </a:spcAft>
              <a:defRPr sz="1250">
                <a:solidFill>
                  <a:srgbClr val="2D2D2D"/>
                </a:solidFill>
                <a:latin typeface="Aptos"/>
              </a:defRPr>
            </a:pPr>
            <a:r>
              <a:t>Confirm aftercare instructions are given and understood.</a:t>
            </a:r>
          </a:p>
          <a:p>
            <a:pPr>
              <a:spcAft>
                <a:spcPts val="400"/>
              </a:spcAft>
              <a:defRPr sz="1250">
                <a:solidFill>
                  <a:srgbClr val="2D2D2D"/>
                </a:solidFill>
                <a:latin typeface="Aptos"/>
              </a:defRPr>
            </a:pPr>
            <a:r>
              <a:t>Escalate and document adverse reactions according to clinic policy.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892040"/>
            <a:ext cx="10835640" cy="777240"/>
          </a:xfrm>
          <a:prstGeom prst="roundRect">
            <a:avLst/>
          </a:prstGeom>
          <a:solidFill>
            <a:srgbClr val="FCF1F5"/>
          </a:solidFill>
          <a:ln>
            <a:solidFill>
              <a:srgbClr val="EED1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5047488"/>
            <a:ext cx="1508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BE5376"/>
                </a:solidFill>
                <a:latin typeface="Aptos"/>
              </a:defRPr>
            </a:pPr>
            <a:r>
              <a:t>Clinical reminder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23160" y="5020056"/>
            <a:ext cx="8732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5C2237"/>
                </a:solidFill>
                <a:latin typeface="Aptos"/>
              </a:defRPr>
            </a:pPr>
            <a:r>
              <a:t>If it was not documented, it may be difficult to prove it was done.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C2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8229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BE5376"/>
                </a:solidFill>
                <a:latin typeface="Aptos"/>
              </a:defRPr>
            </a:pPr>
            <a:r>
              <a:t>PRACTICAL 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5C2237"/>
                </a:solidFill>
                <a:latin typeface="Aptos Display"/>
              </a:defRPr>
            </a:pPr>
            <a:r>
              <a:t>The Helloperfect Treatment Room Standard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064240" y="411480"/>
            <a:ext cx="658368" cy="411480"/>
          </a:xfrm>
          <a:prstGeom prst="roundRect">
            <a:avLst/>
          </a:prstGeom>
          <a:solidFill>
            <a:srgbClr val="FCF1F5"/>
          </a:solidFill>
          <a:ln>
            <a:solidFill>
              <a:srgbClr val="BE53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64240" y="512064"/>
            <a:ext cx="65836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5C2237"/>
                </a:solidFill>
                <a:latin typeface="Aptos"/>
              </a:defRPr>
            </a:pPr>
            <a:r>
              <a:t>HP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9672"/>
            <a:ext cx="12191695" cy="45720"/>
          </a:xfrm>
          <a:prstGeom prst="rect">
            <a:avLst/>
          </a:prstGeom>
          <a:solidFill>
            <a:srgbClr val="BE53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574536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Aptos"/>
              </a:defRPr>
            </a:pPr>
            <a:r>
              <a:t>Helloperfect Aesthetic Clinic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3360" y="6574536"/>
            <a:ext cx="4206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6E6E6E"/>
                </a:solidFill>
                <a:latin typeface="Aptos"/>
              </a:defRPr>
            </a:pPr>
            <a:r>
              <a:t>Treatment Room Protocol &amp; Clinical Best Practice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657453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6E6E6E"/>
                </a:solidFill>
                <a:latin typeface="Aptos"/>
              </a:defRPr>
            </a:pPr>
            <a:r>
              <a:t>Facilitator: Chidindu Solace</a:t>
            </a:r>
          </a:p>
        </p:txBody>
      </p:sp>
      <p:sp>
        <p:nvSpPr>
          <p:cNvPr id="11" name="Oval 10"/>
          <p:cNvSpPr/>
          <p:nvPr/>
        </p:nvSpPr>
        <p:spPr>
          <a:xfrm>
            <a:off x="11658600" y="6483096"/>
            <a:ext cx="301752" cy="301752"/>
          </a:xfrm>
          <a:prstGeom prst="ellipse">
            <a:avLst/>
          </a:prstGeom>
          <a:solidFill>
            <a:srgbClr val="5C2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658600" y="6528816"/>
            <a:ext cx="301752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Aptos"/>
              </a:defRPr>
            </a:pPr>
            <a:r>
              <a:t>22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1280160"/>
            <a:ext cx="1033272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EB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14400" y="1280160"/>
            <a:ext cx="82296" cy="4343400"/>
          </a:xfrm>
          <a:prstGeom prst="rect">
            <a:avLst/>
          </a:prstGeom>
          <a:solidFill>
            <a:srgbClr val="BE53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1444751"/>
            <a:ext cx="10012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1">
                <a:solidFill>
                  <a:srgbClr val="5C2237"/>
                </a:solidFill>
                <a:latin typeface="Aptos"/>
              </a:defRPr>
            </a:pPr>
            <a:r>
              <a:t>Before you leave any treatment room, confirm: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1810512"/>
            <a:ext cx="99212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2D2D2D"/>
                </a:solidFill>
                <a:latin typeface="Aptos"/>
              </a:defRPr>
            </a:pPr>
            <a:r>
              <a:t>Room clean, stocked, and ready before client entry</a:t>
            </a:r>
          </a:p>
          <a:p>
            <a:pPr>
              <a:spcAft>
                <a:spcPts val="400"/>
              </a:spcAft>
              <a:defRPr sz="1250">
                <a:solidFill>
                  <a:srgbClr val="2D2D2D"/>
                </a:solidFill>
                <a:latin typeface="Aptos"/>
              </a:defRPr>
            </a:pPr>
            <a:r>
              <a:t>Client identity, consent, history, and treatment plan confirmed</a:t>
            </a:r>
          </a:p>
          <a:p>
            <a:pPr>
              <a:spcAft>
                <a:spcPts val="400"/>
              </a:spcAft>
              <a:defRPr sz="1250">
                <a:solidFill>
                  <a:srgbClr val="2D2D2D"/>
                </a:solidFill>
                <a:latin typeface="Aptos"/>
              </a:defRPr>
            </a:pPr>
            <a:r>
              <a:t>Hand hygiene performed at the correct moments</a:t>
            </a:r>
          </a:p>
          <a:p>
            <a:pPr>
              <a:spcAft>
                <a:spcPts val="400"/>
              </a:spcAft>
              <a:defRPr sz="1250">
                <a:solidFill>
                  <a:srgbClr val="2D2D2D"/>
                </a:solidFill>
                <a:latin typeface="Aptos"/>
              </a:defRPr>
            </a:pPr>
            <a:r>
              <a:t>Equipment arranged, checked, cleaned, and stored properly</a:t>
            </a:r>
          </a:p>
          <a:p>
            <a:pPr>
              <a:spcAft>
                <a:spcPts val="400"/>
              </a:spcAft>
              <a:defRPr sz="1250">
                <a:solidFill>
                  <a:srgbClr val="2D2D2D"/>
                </a:solidFill>
                <a:latin typeface="Aptos"/>
              </a:defRPr>
            </a:pPr>
            <a:r>
              <a:t>Client is informed, comfortable, monitored, and respected</a:t>
            </a:r>
          </a:p>
          <a:p>
            <a:pPr>
              <a:spcAft>
                <a:spcPts val="400"/>
              </a:spcAft>
              <a:defRPr sz="1250">
                <a:solidFill>
                  <a:srgbClr val="2D2D2D"/>
                </a:solidFill>
                <a:latin typeface="Aptos"/>
              </a:defRPr>
            </a:pPr>
            <a:r>
              <a:t>Room is reset immediately after treatment</a:t>
            </a:r>
          </a:p>
          <a:p>
            <a:pPr>
              <a:spcAft>
                <a:spcPts val="400"/>
              </a:spcAft>
              <a:defRPr sz="1250">
                <a:solidFill>
                  <a:srgbClr val="2D2D2D"/>
                </a:solidFill>
                <a:latin typeface="Aptos"/>
              </a:defRPr>
            </a:pPr>
            <a:r>
              <a:t>Treatment notes are completed before moving 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715000"/>
            <a:ext cx="10332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5C2237"/>
                </a:solidFill>
                <a:latin typeface="Aptos"/>
              </a:defRPr>
            </a:pPr>
            <a:r>
              <a:t>Safe • Clean • Organized • Professional • Client-centred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C2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8229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BE5376"/>
                </a:solidFill>
                <a:latin typeface="Aptos"/>
              </a:defRPr>
            </a:pPr>
            <a:r>
              <a:t>FOR TRAINING ALIGNMENT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5C2237"/>
                </a:solidFill>
                <a:latin typeface="Aptos Display"/>
              </a:defRPr>
            </a:pPr>
            <a:r>
              <a:t>Reference Standards Used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064240" y="411480"/>
            <a:ext cx="658368" cy="411480"/>
          </a:xfrm>
          <a:prstGeom prst="roundRect">
            <a:avLst/>
          </a:prstGeom>
          <a:solidFill>
            <a:srgbClr val="FCF1F5"/>
          </a:solidFill>
          <a:ln>
            <a:solidFill>
              <a:srgbClr val="BE53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64240" y="512064"/>
            <a:ext cx="65836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5C2237"/>
                </a:solidFill>
                <a:latin typeface="Aptos"/>
              </a:defRPr>
            </a:pPr>
            <a:r>
              <a:t>HP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9672"/>
            <a:ext cx="12191695" cy="45720"/>
          </a:xfrm>
          <a:prstGeom prst="rect">
            <a:avLst/>
          </a:prstGeom>
          <a:solidFill>
            <a:srgbClr val="BE53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574536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Aptos"/>
              </a:defRPr>
            </a:pPr>
            <a:r>
              <a:t>Helloperfect Aesthetic Clinic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3360" y="6574536"/>
            <a:ext cx="4206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6E6E6E"/>
                </a:solidFill>
                <a:latin typeface="Aptos"/>
              </a:defRPr>
            </a:pPr>
            <a:r>
              <a:t>Treatment Room Protocol &amp; Clinical Best Practice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657453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6E6E6E"/>
                </a:solidFill>
                <a:latin typeface="Aptos"/>
              </a:defRPr>
            </a:pPr>
            <a:r>
              <a:t>Facilitator: Chidindu Solace</a:t>
            </a:r>
          </a:p>
        </p:txBody>
      </p:sp>
      <p:sp>
        <p:nvSpPr>
          <p:cNvPr id="11" name="Oval 10"/>
          <p:cNvSpPr/>
          <p:nvPr/>
        </p:nvSpPr>
        <p:spPr>
          <a:xfrm>
            <a:off x="11658600" y="6483096"/>
            <a:ext cx="301752" cy="301752"/>
          </a:xfrm>
          <a:prstGeom prst="ellipse">
            <a:avLst/>
          </a:prstGeom>
          <a:solidFill>
            <a:srgbClr val="5C2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658600" y="6528816"/>
            <a:ext cx="301752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Aptos"/>
              </a:defRPr>
            </a:pPr>
            <a:r>
              <a:t>23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1280160"/>
            <a:ext cx="1060704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EB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" y="1280160"/>
            <a:ext cx="82296" cy="4023360"/>
          </a:xfrm>
          <a:prstGeom prst="rect">
            <a:avLst/>
          </a:prstGeom>
          <a:solidFill>
            <a:srgbClr val="D6AB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1444751"/>
            <a:ext cx="10287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1">
                <a:solidFill>
                  <a:srgbClr val="5C2237"/>
                </a:solidFill>
                <a:latin typeface="Aptos"/>
              </a:defRPr>
            </a:pPr>
            <a:r>
              <a:t>Sources that informed this training deck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1810512"/>
            <a:ext cx="1019556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2D2D2D"/>
                </a:solidFill>
                <a:latin typeface="Aptos"/>
              </a:defRPr>
            </a:pPr>
            <a:r>
              <a:t>CDC: Standard Precautions for All Patient Care, including handling, cleaning, disinfecting patient-care equipment and the environment.</a:t>
            </a:r>
          </a:p>
          <a:p>
            <a:pPr>
              <a:spcAft>
                <a:spcPts val="400"/>
              </a:spcAft>
              <a:defRPr sz="1250">
                <a:solidFill>
                  <a:srgbClr val="2D2D2D"/>
                </a:solidFill>
                <a:latin typeface="Aptos"/>
              </a:defRPr>
            </a:pPr>
            <a:r>
              <a:t>CDC: Clinical safety guidance for hand hygiene, including hand hygiene before gloves and after glove removal.</a:t>
            </a:r>
          </a:p>
          <a:p>
            <a:pPr>
              <a:spcAft>
                <a:spcPts val="400"/>
              </a:spcAft>
              <a:defRPr sz="1250">
                <a:solidFill>
                  <a:srgbClr val="2D2D2D"/>
                </a:solidFill>
                <a:latin typeface="Aptos"/>
              </a:defRPr>
            </a:pPr>
            <a:r>
              <a:t>WHO: “5 Moments for Hand Hygiene” framework used to explain when staff should clean hands.</a:t>
            </a:r>
          </a:p>
          <a:p>
            <a:pPr>
              <a:spcAft>
                <a:spcPts val="400"/>
              </a:spcAft>
              <a:defRPr sz="1250">
                <a:solidFill>
                  <a:srgbClr val="2D2D2D"/>
                </a:solidFill>
                <a:latin typeface="Aptos"/>
              </a:defRPr>
            </a:pPr>
            <a:r>
              <a:t>CDC: Disinfection and Sterilization guidance, including risk-based processing of patient-care equipment.</a:t>
            </a:r>
          </a:p>
          <a:p>
            <a:pPr>
              <a:spcAft>
                <a:spcPts val="400"/>
              </a:spcAft>
              <a:defRPr sz="1250">
                <a:solidFill>
                  <a:srgbClr val="2D2D2D"/>
                </a:solidFill>
                <a:latin typeface="Aptos"/>
              </a:defRPr>
            </a:pPr>
            <a:r>
              <a:t>CDC: Core Infection Prevention and Control Practices, including routine and targeted cleaning of patient-care surfaces.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53212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50" b="1">
                <a:solidFill>
                  <a:srgbClr val="5C2237"/>
                </a:solidFill>
                <a:latin typeface="Aptos"/>
              </a:defRPr>
            </a:pPr>
            <a:r>
              <a:t>Note: This deck supports staff induction and should be adapted to Helloperfect’s approved procedure manuals, scope of practice, product instructions, and local regulatory requirements.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