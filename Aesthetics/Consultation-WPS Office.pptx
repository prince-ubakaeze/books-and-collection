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</p:sldIdLst>
  <p:sldSz type="screen4x3" cy="6858000" cx="9144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tableStyles" Target="tableStyle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58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5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zh-CN" lang="en-US" smtClean="0"/>
              <a:t>Click to edit Master subtitle style</a:t>
            </a:r>
            <a:endParaRPr dirty="0"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0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0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0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32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3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37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38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3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4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4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4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4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4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4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4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4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4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1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1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2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00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51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52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5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5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5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88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altLang="zh-CN" lang="en-US" smtClean="0"/>
              <a:t>Click icon to add picture</a:t>
            </a:r>
            <a:endParaRPr dirty="0" lang="en-US"/>
          </a:p>
        </p:txBody>
      </p:sp>
      <p:sp>
        <p:nvSpPr>
          <p:cNvPr id="1048589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59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9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2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2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2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9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9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9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"/>
          <p:cNvSpPr txBox="1"/>
          <p:nvPr/>
        </p:nvSpPr>
        <p:spPr>
          <a:xfrm>
            <a:off x="1400958" y="2418079"/>
            <a:ext cx="6790468" cy="18186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 OPENING
“Quick question — what’s the fastest way to lose a client during consultation?”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</a:t>
            </a:r>
            <a:r>
              <a:rPr lang="en-US"/>
              <a:t>e</a:t>
            </a:r>
            <a:r>
              <a:rPr lang="en-US"/>
              <a:t>c</a:t>
            </a:r>
            <a:r>
              <a:rPr lang="en-US"/>
              <a:t>t</a:t>
            </a:r>
            <a:r>
              <a:rPr lang="en-US"/>
              <a:t>i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 </a:t>
            </a:r>
            <a:r>
              <a:rPr lang="en-US"/>
              <a:t>1</a:t>
            </a:r>
            <a:br>
              <a:rPr lang="en-US"/>
            </a:br>
            <a:r>
              <a:rPr lang="en-US"/>
              <a:t>C</a:t>
            </a:r>
            <a:r>
              <a:rPr lang="en-US"/>
              <a:t>o</a:t>
            </a:r>
            <a:r>
              <a:rPr lang="en-US"/>
              <a:t>n</a:t>
            </a:r>
            <a:r>
              <a:rPr lang="en-US"/>
              <a:t>s</a:t>
            </a:r>
            <a:r>
              <a:rPr lang="en-US"/>
              <a:t>u</a:t>
            </a:r>
            <a:r>
              <a:rPr lang="en-US"/>
              <a:t>l</a:t>
            </a:r>
            <a:r>
              <a:rPr lang="en-US"/>
              <a:t>t</a:t>
            </a:r>
            <a:r>
              <a:rPr lang="en-US"/>
              <a:t>a</a:t>
            </a:r>
            <a:r>
              <a:rPr lang="en-US"/>
              <a:t>tion</a:t>
            </a:r>
            <a:br>
              <a:rPr lang="en-US"/>
            </a:br>
            <a:r>
              <a:rPr lang="en-US"/>
              <a:t>F</a:t>
            </a:r>
            <a:r>
              <a:rPr lang="en-US"/>
              <a:t>l</a:t>
            </a:r>
            <a:r>
              <a:rPr lang="en-US"/>
              <a:t>o</a:t>
            </a:r>
            <a:r>
              <a:rPr lang="en-US"/>
              <a:t>w</a:t>
            </a:r>
            <a:endParaRPr lang="en-US"/>
          </a:p>
        </p:txBody>
      </p:sp>
      <p:pic>
        <p:nvPicPr>
          <p:cNvPr id="2097153" name=""/>
          <p:cNvPicPr>
            <a:picLocks/>
          </p:cNvPicPr>
          <p:nvPr>
            <p:ph type="pic" idx="1"/>
          </p:nvPr>
        </p:nvPicPr>
        <p:blipFill>
          <a:blip xmlns:r="http://schemas.openxmlformats.org/officeDocument/2006/relationships" r:embed="rId1"/>
          <a:srcRect t="14906" b="14906"/>
          <a:stretch>
            <a:fillRect/>
          </a:stretch>
        </p:blipFill>
        <p:spPr>
          <a:xfrm>
            <a:off x="3832783" y="825723"/>
            <a:ext cx="4629150" cy="4873625"/>
          </a:xfrm>
        </p:spPr>
      </p:pic>
      <p:sp>
        <p:nvSpPr>
          <p:cNvPr id="1048596" name=""/>
          <p:cNvSpPr>
            <a:spLocks noGrp="1"/>
          </p:cNvSpPr>
          <p:nvPr>
            <p:ph type="body" sz="half" idx="2"/>
          </p:nvPr>
        </p:nvSpPr>
        <p:spPr>
          <a:xfrm>
            <a:off x="323756" y="2296953"/>
            <a:ext cx="3509027" cy="3811588"/>
          </a:xfrm>
        </p:spPr>
        <p:txBody>
          <a:bodyPr/>
          <a:p>
            <a:r>
              <a:rPr sz="2400" lang="en-US"/>
              <a:t>Greeting &amp; rapport</a:t>
            </a:r>
            <a:endParaRPr sz="2800" lang="en-US"/>
          </a:p>
          <a:p>
            <a:r>
              <a:rPr sz="2400" lang="en-US"/>
              <a:t>Discovery questions</a:t>
            </a:r>
            <a:endParaRPr sz="2800" lang="en-US"/>
          </a:p>
          <a:p>
            <a:r>
              <a:rPr sz="2400" lang="en-US"/>
              <a:t>Assessment</a:t>
            </a:r>
            <a:endParaRPr sz="2800" lang="en-US"/>
          </a:p>
          <a:p>
            <a:r>
              <a:rPr sz="2400" lang="en-US"/>
              <a:t>Education</a:t>
            </a:r>
            <a:endParaRPr sz="2800" lang="en-US"/>
          </a:p>
          <a:p>
            <a:r>
              <a:rPr sz="2400" lang="en-US"/>
              <a:t>Recommendation</a:t>
            </a:r>
            <a:endParaRPr sz="2800" lang="en-US"/>
          </a:p>
          <a:p>
            <a:r>
              <a:rPr sz="2400" lang="en-US"/>
              <a:t>Managing expectations</a:t>
            </a:r>
            <a:endParaRPr sz="2800" lang="en-US"/>
          </a:p>
          <a:p>
            <a:r>
              <a:rPr sz="2400" lang="en-US"/>
              <a:t>Closing &amp; documentation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"/>
          <p:cNvSpPr>
            <a:spLocks noGrp="1"/>
          </p:cNvSpPr>
          <p:nvPr>
            <p:ph type="title"/>
          </p:nvPr>
        </p:nvSpPr>
        <p:spPr>
          <a:xfrm rot="10800000" flipV="1">
            <a:off x="517111" y="2380335"/>
            <a:ext cx="2345214" cy="1595937"/>
          </a:xfrm>
        </p:spPr>
        <p:txBody>
          <a:bodyPr>
            <a:noAutofit/>
          </a:bodyPr>
          <a:p>
            <a:r>
              <a:rPr sz="2400" lang="en-US"/>
              <a:t>SECTION 2 — ASKING THE RIGHT QUESTIONS</a:t>
            </a:r>
            <a:br>
              <a:rPr sz="2400" lang="en-US"/>
            </a:br>
            <a:r>
              <a:rPr sz="2400" lang="en-US"/>
              <a:t>VIRTUAL INTERACTIVE METHOD</a:t>
            </a:r>
            <a:br>
              <a:rPr sz="2400" lang="en-US"/>
            </a:br>
            <a:r>
              <a:rPr sz="2400" lang="en-US"/>
              <a:t>:</a:t>
            </a:r>
            <a:br>
              <a:rPr sz="2400" lang="en-US"/>
            </a:br>
            <a:r>
              <a:rPr sz="2400" lang="en-US"/>
              <a:t>“Open-ended or Closed-ended?”</a:t>
            </a:r>
            <a:endParaRPr lang="en-US"/>
          </a:p>
        </p:txBody>
      </p:sp>
      <p:sp>
        <p:nvSpPr>
          <p:cNvPr id="1048598" name=""/>
          <p:cNvSpPr>
            <a:spLocks noGrp="1"/>
          </p:cNvSpPr>
          <p:nvPr>
            <p:ph type="body" sz="half" idx="2"/>
          </p:nvPr>
        </p:nvSpPr>
        <p:spPr>
          <a:xfrm>
            <a:off x="246413" y="3756952"/>
            <a:ext cx="3640978" cy="1287342"/>
          </a:xfrm>
        </p:spPr>
        <p:txBody>
          <a:bodyPr>
            <a:noAutofit/>
          </a:bodyPr>
          <a:p>
            <a:endParaRPr sz="2800" lang="en-US"/>
          </a:p>
          <a:p>
            <a:r>
              <a:rPr sz="2400" lang="en-US"/>
              <a:t>W</a:t>
            </a:r>
            <a:r>
              <a:rPr sz="2400" lang="en-US"/>
              <a:t>h</a:t>
            </a:r>
            <a:r>
              <a:rPr sz="2400" lang="en-US"/>
              <a:t>i</a:t>
            </a:r>
            <a:r>
              <a:rPr sz="2400" lang="en-US"/>
              <a:t>c</a:t>
            </a:r>
            <a:r>
              <a:rPr sz="2400" lang="en-US"/>
              <a:t>h</a:t>
            </a:r>
            <a:r>
              <a:rPr sz="2400" lang="en-US"/>
              <a:t> </a:t>
            </a:r>
            <a:r>
              <a:rPr sz="2400" lang="en-US"/>
              <a:t>i</a:t>
            </a:r>
            <a:r>
              <a:rPr sz="2400" lang="en-US"/>
              <a:t>s</a:t>
            </a:r>
            <a:r>
              <a:rPr sz="2400" lang="en-US"/>
              <a:t> </a:t>
            </a:r>
            <a:r>
              <a:rPr sz="2400" lang="en-US"/>
              <a:t>b</a:t>
            </a:r>
            <a:r>
              <a:rPr sz="2400" lang="en-US"/>
              <a:t>e</a:t>
            </a:r>
            <a:r>
              <a:rPr sz="2400" lang="en-US"/>
              <a:t>t</a:t>
            </a:r>
            <a:r>
              <a:rPr sz="2400" lang="en-US"/>
              <a:t>t</a:t>
            </a:r>
            <a:r>
              <a:rPr sz="2400" lang="en-US"/>
              <a:t>er</a:t>
            </a:r>
            <a:r>
              <a:rPr sz="2400" lang="en-US"/>
              <a:t>?</a:t>
            </a:r>
            <a:r>
              <a:rPr sz="2400" lang="en-US"/>
              <a:t> </a:t>
            </a:r>
            <a:endParaRPr sz="2000" lang="en-US"/>
          </a:p>
          <a:p>
            <a:r>
              <a:rPr sz="2400" lang="en-US"/>
              <a:t>1</a:t>
            </a:r>
            <a:r>
              <a:rPr sz="2400" lang="en-US"/>
              <a:t> </a:t>
            </a:r>
            <a:r>
              <a:rPr sz="2400" lang="en-US"/>
              <a:t>D</a:t>
            </a:r>
            <a:r>
              <a:rPr sz="2400" lang="en-US"/>
              <a:t>o</a:t>
            </a:r>
            <a:r>
              <a:rPr sz="2400" lang="en-US"/>
              <a:t> </a:t>
            </a:r>
            <a:r>
              <a:rPr sz="2400" lang="en-US"/>
              <a:t>y</a:t>
            </a:r>
            <a:r>
              <a:rPr sz="2400" lang="en-US"/>
              <a:t>o</a:t>
            </a:r>
            <a:r>
              <a:rPr sz="2400" lang="en-US"/>
              <a:t>u</a:t>
            </a:r>
            <a:r>
              <a:rPr sz="2400" lang="en-US"/>
              <a:t> </a:t>
            </a:r>
            <a:r>
              <a:rPr sz="2400" lang="en-US"/>
              <a:t>u</a:t>
            </a:r>
            <a:r>
              <a:rPr sz="2400" lang="en-US"/>
              <a:t>s</a:t>
            </a:r>
            <a:r>
              <a:rPr sz="2400" lang="en-US"/>
              <a:t>e</a:t>
            </a:r>
            <a:r>
              <a:rPr sz="2400" lang="en-US"/>
              <a:t> </a:t>
            </a:r>
            <a:r>
              <a:rPr sz="2400" lang="en-US"/>
              <a:t>s</a:t>
            </a:r>
            <a:r>
              <a:rPr sz="2400" lang="en-US"/>
              <a:t>k</a:t>
            </a:r>
            <a:r>
              <a:rPr sz="2400" lang="en-US"/>
              <a:t>i</a:t>
            </a:r>
            <a:r>
              <a:rPr sz="2400" lang="en-US"/>
              <a:t>n</a:t>
            </a:r>
            <a:r>
              <a:rPr sz="2400" lang="en-US"/>
              <a:t>c</a:t>
            </a:r>
            <a:r>
              <a:rPr sz="2400" lang="en-US"/>
              <a:t>a</a:t>
            </a:r>
            <a:r>
              <a:rPr sz="2400" lang="en-US"/>
              <a:t>re</a:t>
            </a:r>
            <a:endParaRPr sz="2000" lang="en-US"/>
          </a:p>
          <a:p>
            <a:r>
              <a:rPr sz="2400" lang="en-US"/>
              <a:t>2</a:t>
            </a:r>
            <a:r>
              <a:rPr sz="2400" lang="en-US"/>
              <a:t> </a:t>
            </a:r>
            <a:r>
              <a:rPr sz="2400" lang="en-US"/>
              <a:t>T</a:t>
            </a:r>
            <a:r>
              <a:rPr sz="2400" lang="en-US"/>
              <a:t>e</a:t>
            </a:r>
            <a:r>
              <a:rPr sz="2400" lang="en-US"/>
              <a:t>l</a:t>
            </a:r>
            <a:r>
              <a:rPr sz="2400" lang="en-US"/>
              <a:t>l</a:t>
            </a:r>
            <a:r>
              <a:rPr sz="2400" lang="en-US"/>
              <a:t> </a:t>
            </a:r>
            <a:r>
              <a:rPr sz="2400" lang="en-US"/>
              <a:t>m</a:t>
            </a:r>
            <a:r>
              <a:rPr sz="2400" lang="en-US"/>
              <a:t>e</a:t>
            </a:r>
            <a:r>
              <a:rPr sz="2400" lang="en-US"/>
              <a:t> </a:t>
            </a:r>
            <a:r>
              <a:rPr sz="2400" lang="en-US"/>
              <a:t>a</a:t>
            </a:r>
            <a:r>
              <a:rPr sz="2400" lang="en-US"/>
              <a:t>b</a:t>
            </a:r>
            <a:r>
              <a:rPr sz="2400" lang="en-US"/>
              <a:t>o</a:t>
            </a:r>
            <a:r>
              <a:rPr sz="2400" lang="en-US"/>
              <a:t>ut</a:t>
            </a:r>
            <a:r>
              <a:rPr sz="2400" lang="en-US"/>
              <a:t> </a:t>
            </a:r>
            <a:r>
              <a:rPr sz="2400" lang="en-US"/>
              <a:t>y</a:t>
            </a:r>
            <a:r>
              <a:rPr sz="2400" lang="en-US"/>
              <a:t>o</a:t>
            </a:r>
            <a:r>
              <a:rPr sz="2400" lang="en-US"/>
              <a:t>u</a:t>
            </a:r>
            <a:r>
              <a:rPr sz="2400" lang="en-US"/>
              <a:t>r</a:t>
            </a:r>
            <a:r>
              <a:rPr sz="2400" lang="en-US"/>
              <a:t> </a:t>
            </a:r>
            <a:r>
              <a:rPr sz="2400" lang="en-US"/>
              <a:t>r</a:t>
            </a:r>
            <a:r>
              <a:rPr sz="2400" lang="en-US"/>
              <a:t>o</a:t>
            </a:r>
            <a:r>
              <a:rPr sz="2400" lang="en-US"/>
              <a:t>u</a:t>
            </a:r>
            <a:r>
              <a:rPr sz="2400" lang="en-US"/>
              <a:t>tine</a:t>
            </a:r>
            <a:endParaRPr lang="en-US"/>
          </a:p>
        </p:txBody>
      </p:sp>
      <p:pic>
        <p:nvPicPr>
          <p:cNvPr id="2097160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3887391" y="934781"/>
            <a:ext cx="4989011" cy="4988439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707279"/>
            <a:ext cx="9144000" cy="5443442"/>
          </a:xfrm>
          <a:prstGeom prst="rect"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"/>
          <p:cNvSpPr txBox="1"/>
          <p:nvPr/>
        </p:nvSpPr>
        <p:spPr>
          <a:xfrm>
            <a:off x="656159" y="621029"/>
            <a:ext cx="7831683" cy="5615940"/>
          </a:xfrm>
          <a:prstGeom prst="rect"/>
        </p:spPr>
        <p:txBody>
          <a:bodyPr rtlCol="0" wrap="square">
            <a:spAutoFit/>
          </a:bodyPr>
          <a:p>
            <a:r>
              <a:rPr sz="2400" lang="en-US">
                <a:solidFill>
                  <a:srgbClr val="000000"/>
                </a:solidFill>
              </a:rPr>
              <a:t>M</a:t>
            </a:r>
            <a:r>
              <a:rPr sz="2400" lang="en-US">
                <a:solidFill>
                  <a:srgbClr val="000000"/>
                </a:solidFill>
              </a:rPr>
              <a:t>E</a:t>
            </a:r>
            <a:r>
              <a:rPr sz="2400" lang="en-US">
                <a:solidFill>
                  <a:srgbClr val="000000"/>
                </a:solidFill>
              </a:rPr>
              <a:t>M</a:t>
            </a:r>
            <a:r>
              <a:rPr sz="2400" lang="en-US">
                <a:solidFill>
                  <a:srgbClr val="000000"/>
                </a:solidFill>
              </a:rPr>
              <a:t>O</a:t>
            </a:r>
            <a:r>
              <a:rPr sz="2400" lang="en-US">
                <a:solidFill>
                  <a:srgbClr val="000000"/>
                </a:solidFill>
              </a:rPr>
              <a:t>R</a:t>
            </a:r>
            <a:r>
              <a:rPr sz="2400" lang="en-US">
                <a:solidFill>
                  <a:srgbClr val="000000"/>
                </a:solidFill>
              </a:rPr>
              <a:t>I</a:t>
            </a:r>
            <a:r>
              <a:rPr sz="2400" lang="en-US">
                <a:solidFill>
                  <a:srgbClr val="000000"/>
                </a:solidFill>
              </a:rPr>
              <a:t>Z</a:t>
            </a:r>
            <a:r>
              <a:rPr sz="2400" lang="en-US">
                <a:solidFill>
                  <a:srgbClr val="000000"/>
                </a:solidFill>
              </a:rPr>
              <a:t>E</a:t>
            </a:r>
            <a:r>
              <a:rPr sz="2400" lang="en-US">
                <a:solidFill>
                  <a:srgbClr val="000000"/>
                </a:solidFill>
              </a:rPr>
              <a:t> THIS RULE:
“The quality of your consultation depends on the quality of your questions.”</a:t>
            </a:r>
            <a:endParaRPr sz="2000" lang="en-US">
              <a:solidFill>
                <a:srgbClr val="000000"/>
              </a:solidFill>
            </a:endParaRPr>
          </a:p>
          <a:p>
            <a:r>
              <a:rPr sz="2400" lang="en-US">
                <a:solidFill>
                  <a:srgbClr val="000000"/>
                </a:solidFill>
              </a:rPr>
              <a:t>
IMPORTANT QUESTIONS TO </a:t>
            </a:r>
            <a:r>
              <a:rPr sz="2400" lang="en-US">
                <a:solidFill>
                  <a:srgbClr val="000000"/>
                </a:solidFill>
              </a:rPr>
              <a:t>A</a:t>
            </a:r>
            <a:r>
              <a:rPr sz="2400" lang="en-US">
                <a:solidFill>
                  <a:srgbClr val="000000"/>
                </a:solidFill>
              </a:rPr>
              <a:t>S</a:t>
            </a:r>
            <a:r>
              <a:rPr sz="2400" lang="en-US">
                <a:solidFill>
                  <a:srgbClr val="000000"/>
                </a:solidFill>
              </a:rPr>
              <a:t>K</a:t>
            </a:r>
            <a:r>
              <a:rPr sz="2400" lang="en-US">
                <a:solidFill>
                  <a:srgbClr val="000000"/>
                </a:solidFill>
              </a:rPr>
              <a:t>
Medical &amp; Safety
Allergies?
Pregnancy?
Isotretinoin use?
Previous procedures?
Sensitivities?
Emotional/Motivational
“What concerns you most?”
“How long has this bothered you?”
“What result are you hoping for?”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"/>
          <p:cNvSpPr>
            <a:spLocks noGrp="1"/>
          </p:cNvSpPr>
          <p:nvPr>
            <p:ph type="title"/>
          </p:nvPr>
        </p:nvSpPr>
        <p:spPr>
          <a:xfrm>
            <a:off x="387948" y="-366122"/>
            <a:ext cx="3152085" cy="1600200"/>
          </a:xfrm>
        </p:spPr>
        <p:txBody>
          <a:bodyPr>
            <a:normAutofit/>
          </a:bodyPr>
          <a:p>
            <a:r>
              <a:rPr sz="2800" lang="en-US"/>
              <a:t>SECTION 3 — MANAGING EXPECTATIONS</a:t>
            </a:r>
            <a:endParaRPr lang="en-US"/>
          </a:p>
        </p:txBody>
      </p:sp>
      <p:pic>
        <p:nvPicPr>
          <p:cNvPr id="2097156" name=""/>
          <p:cNvPicPr>
            <a:picLocks/>
          </p:cNvPicPr>
          <p:nvPr>
            <p:ph type="pic" idx="1"/>
          </p:nvPr>
        </p:nvPicPr>
        <p:blipFill>
          <a:blip xmlns:r="http://schemas.openxmlformats.org/officeDocument/2006/relationships" r:embed="rId1"/>
          <a:srcRect t="26662" b="26662"/>
          <a:stretch>
            <a:fillRect/>
          </a:stretch>
        </p:blipFill>
        <p:spPr>
          <a:xfrm>
            <a:off x="3819201" y="625994"/>
            <a:ext cx="5324799" cy="5606012"/>
          </a:xfrm>
        </p:spPr>
      </p:pic>
      <p:sp>
        <p:nvSpPr>
          <p:cNvPr id="1048604" name=""/>
          <p:cNvSpPr>
            <a:spLocks noGrp="1"/>
          </p:cNvSpPr>
          <p:nvPr>
            <p:ph type="body" sz="half" idx="2"/>
          </p:nvPr>
        </p:nvSpPr>
        <p:spPr>
          <a:xfrm>
            <a:off x="500080" y="1600200"/>
            <a:ext cx="2927821" cy="3811588"/>
          </a:xfrm>
        </p:spPr>
        <p:txBody>
          <a:bodyPr>
            <a:noAutofit/>
          </a:bodyPr>
          <a:p>
            <a:r>
              <a:rPr sz="2400" lang="en-US"/>
              <a:t>POLL QUESTION</a:t>
            </a:r>
            <a:endParaRPr sz="2800" lang="en-US"/>
          </a:p>
          <a:p>
            <a:r>
              <a:rPr sz="2400" lang="en-US"/>
              <a:t>“Which statement is safer professionally?”</a:t>
            </a:r>
            <a:endParaRPr sz="2800" lang="en-US"/>
          </a:p>
          <a:p>
            <a:r>
              <a:rPr sz="2400" lang="en-US"/>
              <a:t>A.</a:t>
            </a:r>
            <a:endParaRPr sz="2800" lang="en-US"/>
          </a:p>
          <a:p>
            <a:r>
              <a:rPr sz="2400" lang="en-US"/>
              <a:t>“This treatment will clear your acne.”</a:t>
            </a:r>
            <a:endParaRPr sz="2800" lang="en-US"/>
          </a:p>
          <a:p>
            <a:r>
              <a:rPr sz="2400" lang="en-US"/>
              <a:t>B.</a:t>
            </a:r>
            <a:endParaRPr sz="2800" lang="en-US"/>
          </a:p>
          <a:p>
            <a:r>
              <a:rPr sz="2400" lang="en-US"/>
              <a:t>“Most clients see gradual improvement with consistency</a:t>
            </a:r>
            <a:endParaRPr sz="28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"/>
          <p:cNvSpPr>
            <a:spLocks noGrp="1"/>
          </p:cNvSpPr>
          <p:nvPr>
            <p:ph type="title"/>
          </p:nvPr>
        </p:nvSpPr>
        <p:spPr>
          <a:xfrm>
            <a:off x="3129550" y="500062"/>
            <a:ext cx="7886700" cy="1325563"/>
          </a:xfrm>
        </p:spPr>
        <p:txBody>
          <a:bodyPr/>
          <a:p>
            <a:r>
              <a:rPr lang="en-US"/>
              <a:t>N</a:t>
            </a:r>
            <a:r>
              <a:rPr lang="en-US"/>
              <a:t>o</a:t>
            </a:r>
            <a:r>
              <a:rPr lang="en-US"/>
              <a:t>t</a:t>
            </a:r>
            <a:r>
              <a:rPr lang="en-US"/>
              <a:t>e</a:t>
            </a:r>
            <a:endParaRPr lang="en-US"/>
          </a:p>
        </p:txBody>
      </p:sp>
      <p:sp>
        <p:nvSpPr>
          <p:cNvPr id="1048611" name="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N</a:t>
            </a:r>
            <a:r>
              <a:rPr lang="en-US"/>
              <a:t>e</a:t>
            </a:r>
            <a:r>
              <a:rPr lang="en-US"/>
              <a:t>v</a:t>
            </a:r>
            <a:r>
              <a:rPr lang="en-US"/>
              <a:t>e</a:t>
            </a:r>
            <a:r>
              <a:rPr lang="en-US"/>
              <a:t>r</a:t>
            </a:r>
            <a:r>
              <a:rPr lang="en-US"/>
              <a:t> </a:t>
            </a:r>
            <a:r>
              <a:rPr lang="en-US"/>
              <a:t>over promise</a:t>
            </a:r>
            <a:endParaRPr lang="en-US"/>
          </a:p>
          <a:p>
            <a:r>
              <a:rPr lang="en-US"/>
              <a:t>D</a:t>
            </a:r>
            <a:r>
              <a:rPr lang="en-US"/>
              <a:t>o</a:t>
            </a:r>
            <a:r>
              <a:rPr lang="en-US"/>
              <a:t> </a:t>
            </a:r>
            <a:r>
              <a:rPr lang="en-US"/>
              <a:t>n</a:t>
            </a:r>
            <a:r>
              <a:rPr lang="en-US"/>
              <a:t>o</a:t>
            </a:r>
            <a:r>
              <a:rPr lang="en-US"/>
              <a:t>t</a:t>
            </a:r>
            <a:r>
              <a:rPr lang="en-US"/>
              <a:t> </a:t>
            </a:r>
            <a:r>
              <a:rPr lang="en-US"/>
              <a:t>u</a:t>
            </a:r>
            <a:r>
              <a:rPr lang="en-US"/>
              <a:t>n</a:t>
            </a:r>
            <a:r>
              <a:rPr lang="en-US"/>
              <a:t>d</a:t>
            </a:r>
            <a:r>
              <a:rPr lang="en-US"/>
              <a:t>e</a:t>
            </a:r>
            <a:r>
              <a:rPr lang="en-US"/>
              <a:t>r</a:t>
            </a:r>
            <a:r>
              <a:rPr lang="en-US"/>
              <a:t>e</a:t>
            </a:r>
            <a:r>
              <a:rPr lang="en-US"/>
              <a:t>stimate</a:t>
            </a:r>
            <a:r>
              <a:rPr lang="en-US"/>
              <a:t> </a:t>
            </a:r>
            <a:r>
              <a:rPr lang="en-US"/>
              <a:t>p</a:t>
            </a:r>
            <a:r>
              <a:rPr lang="en-US"/>
              <a:t>o</a:t>
            </a:r>
            <a:r>
              <a:rPr lang="en-US"/>
              <a:t>t</a:t>
            </a:r>
            <a:r>
              <a:rPr lang="en-US"/>
              <a:t>e</a:t>
            </a:r>
            <a:r>
              <a:rPr lang="en-US"/>
              <a:t>ntial</a:t>
            </a:r>
            <a:r>
              <a:rPr lang="en-US"/>
              <a:t> </a:t>
            </a:r>
            <a:r>
              <a:rPr lang="en-US"/>
              <a:t>r</a:t>
            </a:r>
            <a:r>
              <a:rPr lang="en-US"/>
              <a:t>i</a:t>
            </a:r>
            <a:r>
              <a:rPr lang="en-US"/>
              <a:t>sks</a:t>
            </a:r>
            <a:r>
              <a:rPr lang="en-US"/>
              <a:t> </a:t>
            </a:r>
            <a:r>
              <a:rPr lang="en-US"/>
              <a:t>a</a:t>
            </a:r>
            <a:r>
              <a:rPr lang="en-US"/>
              <a:t>n</a:t>
            </a:r>
            <a:r>
              <a:rPr lang="en-US"/>
              <a:t>d</a:t>
            </a:r>
            <a:r>
              <a:rPr lang="en-US"/>
              <a:t> </a:t>
            </a:r>
            <a:r>
              <a:rPr lang="en-US"/>
              <a:t>s</a:t>
            </a:r>
            <a:r>
              <a:rPr lang="en-US"/>
              <a:t>i</a:t>
            </a:r>
            <a:r>
              <a:rPr lang="en-US"/>
              <a:t>d</a:t>
            </a:r>
            <a:r>
              <a:rPr lang="en-US"/>
              <a:t>e</a:t>
            </a:r>
            <a:r>
              <a:rPr lang="en-US"/>
              <a:t> </a:t>
            </a:r>
            <a:r>
              <a:rPr lang="en-US"/>
              <a:t>e</a:t>
            </a:r>
            <a:r>
              <a:rPr lang="en-US"/>
              <a:t>f</a:t>
            </a:r>
            <a:r>
              <a:rPr lang="en-US"/>
              <a:t>f</a:t>
            </a:r>
            <a:r>
              <a:rPr lang="en-US"/>
              <a:t>e</a:t>
            </a:r>
            <a:r>
              <a:rPr lang="en-US"/>
              <a:t>cts</a:t>
            </a:r>
            <a:endParaRPr lang="en-US"/>
          </a:p>
          <a:p>
            <a:r>
              <a:rPr lang="en-US"/>
              <a:t>E</a:t>
            </a:r>
            <a:r>
              <a:rPr lang="en-US"/>
              <a:t>d</a:t>
            </a:r>
            <a:r>
              <a:rPr lang="en-US"/>
              <a:t>u</a:t>
            </a:r>
            <a:r>
              <a:rPr lang="en-US"/>
              <a:t>c</a:t>
            </a:r>
            <a:r>
              <a:rPr lang="en-US"/>
              <a:t>a</a:t>
            </a:r>
            <a:r>
              <a:rPr lang="en-US"/>
              <a:t>t</a:t>
            </a:r>
            <a:r>
              <a:rPr lang="en-US"/>
              <a:t>e</a:t>
            </a:r>
            <a:r>
              <a:rPr lang="en-US"/>
              <a:t> </a:t>
            </a:r>
            <a:r>
              <a:rPr lang="en-US"/>
              <a:t>c</a:t>
            </a:r>
            <a:r>
              <a:rPr lang="en-US"/>
              <a:t>l</a:t>
            </a:r>
            <a:r>
              <a:rPr lang="en-US"/>
              <a:t>e</a:t>
            </a:r>
            <a:r>
              <a:rPr lang="en-US"/>
              <a:t>a</a:t>
            </a:r>
            <a:r>
              <a:rPr lang="en-US"/>
              <a:t>r</a:t>
            </a:r>
            <a:r>
              <a:rPr lang="en-US"/>
              <a:t>l</a:t>
            </a:r>
            <a:r>
              <a:rPr lang="en-US"/>
              <a:t>y</a:t>
            </a:r>
            <a:r>
              <a:rPr lang="en-US"/>
              <a:t>!</a:t>
            </a:r>
            <a:r>
              <a:rPr lang="en-US"/>
              <a:t>!</a:t>
            </a:r>
            <a:r>
              <a:rPr lang="en-US"/>
              <a:t> </a:t>
            </a:r>
            <a:endParaRPr lang="en-US"/>
          </a:p>
          <a:p>
            <a:r>
              <a:rPr lang="en-US"/>
              <a:t>Over deliver</a:t>
            </a:r>
            <a:r>
              <a:rPr lang="en-US"/>
              <a:t> </a:t>
            </a:r>
            <a:r>
              <a:rPr lang="en-US"/>
              <a:t>w</a:t>
            </a:r>
            <a:r>
              <a:rPr lang="en-US"/>
              <a:t>h</a:t>
            </a:r>
            <a:r>
              <a:rPr lang="en-US"/>
              <a:t>e</a:t>
            </a:r>
            <a:r>
              <a:rPr lang="en-US"/>
              <a:t>n</a:t>
            </a:r>
            <a:r>
              <a:rPr lang="en-US"/>
              <a:t> </a:t>
            </a:r>
            <a:r>
              <a:rPr lang="en-US"/>
              <a:t>p</a:t>
            </a:r>
            <a:r>
              <a:rPr lang="en-US"/>
              <a:t>o</a:t>
            </a:r>
            <a:r>
              <a:rPr lang="en-US"/>
              <a:t>s</a:t>
            </a:r>
            <a:r>
              <a:rPr lang="en-US"/>
              <a:t>s</a:t>
            </a:r>
            <a:r>
              <a:rPr lang="en-US"/>
              <a:t>ible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"/>
          <p:cNvSpPr txBox="1"/>
          <p:nvPr/>
        </p:nvSpPr>
        <p:spPr>
          <a:xfrm>
            <a:off x="1866288" y="2176779"/>
            <a:ext cx="6346761" cy="18186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LIVE SCENARIO EXERCISE
Scenario:
Client says:
“I want flawless skin in 2 weeks.”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"/>
          <p:cNvSpPr txBox="1"/>
          <p:nvPr/>
        </p:nvSpPr>
        <p:spPr>
          <a:xfrm>
            <a:off x="443560" y="779022"/>
            <a:ext cx="10679461" cy="48412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SECTION 4 — PROFESSIONAL COMMUNICATION
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 THESE AREAS</a:t>
            </a:r>
            <a:r>
              <a:rPr sz="2800" lang="en-US">
                <a:solidFill>
                  <a:srgbClr val="000000"/>
                </a:solidFill>
              </a:rPr>
              <a:t>
Tone
Calm
Respectful
Confident
Body Language (Even Virtually)
Avoid multitasking
Don’t appear distracted
Maintain professional facial expressions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"/>
          <p:cNvSpPr>
            <a:spLocks noGrp="1"/>
          </p:cNvSpPr>
          <p:nvPr>
            <p:ph type="title"/>
          </p:nvPr>
        </p:nvSpPr>
        <p:spPr>
          <a:xfrm>
            <a:off x="629841" y="449911"/>
            <a:ext cx="3139619" cy="1727950"/>
          </a:xfrm>
        </p:spPr>
        <p:txBody>
          <a:bodyPr>
            <a:noAutofit/>
          </a:bodyPr>
          <a:p>
            <a:r>
              <a:rPr sz="2400" lang="en-US"/>
              <a:t>SECTION 5 — HANDLING NERVOUS CLIENTS</a:t>
            </a:r>
            <a:br>
              <a:rPr sz="2400" lang="en-US"/>
            </a:br>
            <a:endParaRPr lang="en-US"/>
          </a:p>
        </p:txBody>
      </p:sp>
      <p:pic>
        <p:nvPicPr>
          <p:cNvPr id="2097157" name=""/>
          <p:cNvPicPr>
            <a:picLocks/>
          </p:cNvPicPr>
          <p:nvPr>
            <p:ph type="pic" idx="1"/>
          </p:nvPr>
        </p:nvPicPr>
        <p:blipFill>
          <a:blip xmlns:r="http://schemas.openxmlformats.org/officeDocument/2006/relationships" r:embed="rId1"/>
          <a:srcRect l="13634" r="13634"/>
          <a:stretch>
            <a:fillRect/>
          </a:stretch>
        </p:blipFill>
        <p:spPr>
          <a:xfrm>
            <a:off x="3996105" y="652551"/>
            <a:ext cx="4629150" cy="4873625"/>
          </a:xfrm>
        </p:spPr>
      </p:pic>
      <p:sp>
        <p:nvSpPr>
          <p:cNvPr id="1048616" name=""/>
          <p:cNvSpPr>
            <a:spLocks noGrp="1"/>
          </p:cNvSpPr>
          <p:nvPr>
            <p:ph type="body" sz="half" idx="2"/>
          </p:nvPr>
        </p:nvSpPr>
        <p:spPr>
          <a:xfrm>
            <a:off x="629841" y="2373293"/>
            <a:ext cx="2949178" cy="3152884"/>
          </a:xfrm>
        </p:spPr>
        <p:txBody>
          <a:bodyPr>
            <a:noAutofit/>
          </a:bodyPr>
          <a:p>
            <a:r>
              <a:rPr sz="2400" lang="en-US"/>
              <a:t>LIVE SIMULATION</a:t>
            </a:r>
            <a:endParaRPr sz="2000" lang="en-US"/>
          </a:p>
          <a:p>
            <a:r>
              <a:rPr sz="2400" lang="en-US"/>
              <a:t>You act as nervous client:</a:t>
            </a:r>
            <a:endParaRPr sz="2000" lang="en-US"/>
          </a:p>
          <a:p>
            <a:r>
              <a:rPr sz="2400" lang="en-US"/>
              <a:t>“What if my face reacts?” “Will it hurt?” “What if I break out worse?”</a:t>
            </a:r>
            <a:r>
              <a:rPr sz="2400" lang="en-US"/>
              <a:t>,</a:t>
            </a:r>
            <a:r>
              <a:rPr sz="2400" lang="en-US"/>
              <a:t> </a:t>
            </a:r>
            <a:r>
              <a:rPr sz="2400" lang="en-US"/>
              <a:t>A</a:t>
            </a:r>
            <a:r>
              <a:rPr sz="2400" lang="en-US"/>
              <a:t>r</a:t>
            </a:r>
            <a:r>
              <a:rPr sz="2400" lang="en-US"/>
              <a:t>e</a:t>
            </a:r>
            <a:r>
              <a:rPr sz="2400" lang="en-US"/>
              <a:t> </a:t>
            </a:r>
            <a:r>
              <a:rPr sz="2400" lang="en-US"/>
              <a:t>c</a:t>
            </a:r>
            <a:r>
              <a:rPr sz="2400" lang="en-US"/>
              <a:t>h</a:t>
            </a:r>
            <a:r>
              <a:rPr sz="2400" lang="en-US"/>
              <a:t>e</a:t>
            </a:r>
            <a:r>
              <a:rPr sz="2400" lang="en-US"/>
              <a:t>m</a:t>
            </a:r>
            <a:r>
              <a:rPr sz="2400" lang="en-US"/>
              <a:t>i</a:t>
            </a:r>
            <a:r>
              <a:rPr sz="2400" lang="en-US"/>
              <a:t>cal</a:t>
            </a:r>
            <a:r>
              <a:rPr sz="2400" lang="en-US"/>
              <a:t> </a:t>
            </a:r>
            <a:r>
              <a:rPr sz="2400" lang="en-US"/>
              <a:t>p</a:t>
            </a:r>
            <a:r>
              <a:rPr sz="2400" lang="en-US"/>
              <a:t>e</a:t>
            </a:r>
            <a:r>
              <a:rPr sz="2400" lang="en-US"/>
              <a:t>e</a:t>
            </a:r>
            <a:r>
              <a:rPr sz="2400" lang="en-US"/>
              <a:t>l</a:t>
            </a:r>
            <a:r>
              <a:rPr sz="2400" lang="en-US"/>
              <a:t>s</a:t>
            </a:r>
            <a:r>
              <a:rPr sz="2400" lang="en-US"/>
              <a:t> </a:t>
            </a:r>
            <a:r>
              <a:rPr sz="2400" lang="en-US"/>
              <a:t>s</a:t>
            </a:r>
            <a:r>
              <a:rPr sz="2400" lang="en-US"/>
              <a:t>a</a:t>
            </a:r>
            <a:r>
              <a:rPr sz="2400" lang="en-US"/>
              <a:t>f</a:t>
            </a:r>
            <a:r>
              <a:rPr sz="2400" lang="en-US"/>
              <a:t>e</a:t>
            </a:r>
            <a:r>
              <a:rPr sz="2400" lang="en-US"/>
              <a:t>?</a:t>
            </a:r>
            <a:r>
              <a:rPr sz="2400" lang="en-US"/>
              <a:t> 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"/>
          <p:cNvSpPr txBox="1"/>
          <p:nvPr/>
        </p:nvSpPr>
        <p:spPr>
          <a:xfrm>
            <a:off x="2286000" y="436155"/>
            <a:ext cx="4572000" cy="9550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SECTION 6 — DOCUMENTATION</a:t>
            </a:r>
            <a:endParaRPr sz="2800" lang="en-US">
              <a:solidFill>
                <a:srgbClr val="000000"/>
              </a:solidFill>
            </a:endParaRPr>
          </a:p>
        </p:txBody>
      </p:sp>
      <p:sp>
        <p:nvSpPr>
          <p:cNvPr id="1048663" name=""/>
          <p:cNvSpPr txBox="1"/>
          <p:nvPr/>
        </p:nvSpPr>
        <p:spPr>
          <a:xfrm>
            <a:off x="2286000" y="1871979"/>
            <a:ext cx="4572000" cy="31140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Consent
History
Products
Reactions
Photos
Recommendations
Aftercare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p>
            <a:r>
              <a:rPr sz="2800" lang="en-US"/>
              <a:t>SECTION 7 — REASSURANCE &amp; BUILDING TRUST</a:t>
            </a:r>
            <a:endParaRPr lang="en-US"/>
          </a:p>
        </p:txBody>
      </p:sp>
      <p:pic>
        <p:nvPicPr>
          <p:cNvPr id="2097158" name=""/>
          <p:cNvPicPr>
            <a:picLocks/>
          </p:cNvPicPr>
          <p:nvPr>
            <p:ph type="pic" idx="1"/>
          </p:nvPr>
        </p:nvPicPr>
        <p:blipFill>
          <a:blip xmlns:r="http://schemas.openxmlformats.org/officeDocument/2006/relationships" r:embed="rId1"/>
          <a:srcRect l="17899" r="17899"/>
          <a:stretch>
            <a:fillRect/>
          </a:stretch>
        </p:blipFill>
        <p:spPr>
          <a:xfrm>
            <a:off x="4572000" y="1348660"/>
            <a:ext cx="3951969" cy="4160681"/>
          </a:xfrm>
        </p:spPr>
      </p:pic>
      <p:sp>
        <p:nvSpPr>
          <p:cNvPr id="1048666" name=""/>
          <p:cNvSpPr>
            <a:spLocks noGrp="1"/>
          </p:cNvSpPr>
          <p:nvPr>
            <p:ph type="body" sz="half" idx="2"/>
          </p:nvPr>
        </p:nvSpPr>
        <p:spPr>
          <a:xfrm>
            <a:off x="629841" y="2405231"/>
            <a:ext cx="2949178" cy="3811588"/>
          </a:xfrm>
        </p:spPr>
        <p:txBody>
          <a:bodyPr>
            <a:noAutofit/>
          </a:bodyPr>
          <a:p>
            <a:r>
              <a:rPr sz="2800" lang="en-US"/>
              <a:t>DISCUSSION QUESTION</a:t>
            </a:r>
            <a:endParaRPr sz="3200" lang="en-US"/>
          </a:p>
          <a:p>
            <a:r>
              <a:rPr sz="2800" lang="en-US"/>
              <a:t>Ask:</a:t>
            </a:r>
            <a:endParaRPr sz="3200" lang="en-US"/>
          </a:p>
          <a:p>
            <a:r>
              <a:rPr sz="2800" lang="en-US"/>
              <a:t>“Why do clients return to some practitioners even when prices are higher?”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"/>
          <p:cNvSpPr txBox="1"/>
          <p:nvPr/>
        </p:nvSpPr>
        <p:spPr>
          <a:xfrm>
            <a:off x="2613004" y="439441"/>
            <a:ext cx="4572000" cy="5704841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Trust
Communication
Comfort
Professionalism
Results
Emotional connection
</a:t>
            </a:r>
            <a:r>
              <a:rPr sz="2800" lang="en-US">
                <a:solidFill>
                  <a:srgbClr val="000000"/>
                </a:solidFill>
              </a:rPr>
              <a:t>
Trust is built through:
Honesty
Consistency
Listening
Professional boundaries
Follow-up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254364"/>
            <a:ext cx="9144000" cy="6349272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Office</Application>
  <ScaleCrop>0</ScaleCrop>
  <LinksUpToDate>0</LinksUpToDate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Infinix X6850</dc:creator>
  <dcterms:created xsi:type="dcterms:W3CDTF">2015-05-12T03:30:45Z</dcterms:created>
  <dcterms:modified xsi:type="dcterms:W3CDTF">2026-06-04T00:11:30Z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7b87263ba5104059bf0637df7073d516</vt:lpwstr>
  </property>
</Properties>
</file>